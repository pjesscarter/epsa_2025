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9144000"/>
  <p:embeddedFontLst>
    <p:embeddedFont>
      <p:font typeface="Lora Medium"/>
      <p:regular r:id="rId25"/>
      <p:bold r:id="rId26"/>
      <p:italic r:id="rId27"/>
      <p:boldItalic r:id="rId28"/>
    </p:embeddedFont>
    <p:embeddedFont>
      <p:font typeface="Plus Jakarta Sans"/>
      <p:regular r:id="rId29"/>
      <p:bold r:id="rId30"/>
      <p:italic r:id="rId31"/>
      <p:boldItalic r:id="rId32"/>
    </p:embeddedFont>
    <p:embeddedFont>
      <p:font typeface="Lora SemiBold"/>
      <p:regular r:id="rId33"/>
      <p:bold r:id="rId34"/>
      <p:italic r:id="rId35"/>
      <p:boldItalic r:id="rId36"/>
    </p:embeddedFont>
    <p:embeddedFont>
      <p:font typeface="Cinzel SemiBold"/>
      <p:regular r:id="rId37"/>
      <p:bold r:id="rId38"/>
    </p:embeddedFont>
    <p:embeddedFont>
      <p:font typeface="Plus Jakarta Sans SemiBold"/>
      <p:regular r:id="rId39"/>
      <p:bold r:id="rId40"/>
      <p:italic r:id="rId41"/>
      <p:boldItalic r:id="rId42"/>
    </p:embeddedFont>
    <p:embeddedFont>
      <p:font typeface="Lora"/>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F07A49-AF4C-4986-92E5-D8D07AEF240A}">
  <a:tblStyle styleId="{C8F07A49-AF4C-4986-92E5-D8D07AEF240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usJakartaSansSemiBold-bold.fntdata"/><Relationship Id="rId20" Type="http://schemas.openxmlformats.org/officeDocument/2006/relationships/slide" Target="slides/slide14.xml"/><Relationship Id="rId42" Type="http://schemas.openxmlformats.org/officeDocument/2006/relationships/font" Target="fonts/PlusJakartaSansSemiBold-boldItalic.fntdata"/><Relationship Id="rId41" Type="http://schemas.openxmlformats.org/officeDocument/2006/relationships/font" Target="fonts/PlusJakartaSansSemiBold-italic.fntdata"/><Relationship Id="rId22" Type="http://schemas.openxmlformats.org/officeDocument/2006/relationships/slide" Target="slides/slide16.xml"/><Relationship Id="rId44" Type="http://schemas.openxmlformats.org/officeDocument/2006/relationships/font" Target="fonts/Lora-bold.fntdata"/><Relationship Id="rId21" Type="http://schemas.openxmlformats.org/officeDocument/2006/relationships/slide" Target="slides/slide15.xml"/><Relationship Id="rId43" Type="http://schemas.openxmlformats.org/officeDocument/2006/relationships/font" Target="fonts/Lora-regular.fntdata"/><Relationship Id="rId24" Type="http://schemas.openxmlformats.org/officeDocument/2006/relationships/slide" Target="slides/slide18.xml"/><Relationship Id="rId46" Type="http://schemas.openxmlformats.org/officeDocument/2006/relationships/font" Target="fonts/Lora-boldItalic.fntdata"/><Relationship Id="rId23" Type="http://schemas.openxmlformats.org/officeDocument/2006/relationships/slide" Target="slides/slide17.xml"/><Relationship Id="rId45" Type="http://schemas.openxmlformats.org/officeDocument/2006/relationships/font" Target="fonts/Lora-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oraMedium-bold.fntdata"/><Relationship Id="rId25" Type="http://schemas.openxmlformats.org/officeDocument/2006/relationships/font" Target="fonts/LoraMedium-regular.fntdata"/><Relationship Id="rId28" Type="http://schemas.openxmlformats.org/officeDocument/2006/relationships/font" Target="fonts/LoraMedium-boldItalic.fntdata"/><Relationship Id="rId27" Type="http://schemas.openxmlformats.org/officeDocument/2006/relationships/font" Target="fonts/Lora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lusJakarta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usJakartaSans-italic.fntdata"/><Relationship Id="rId30" Type="http://schemas.openxmlformats.org/officeDocument/2006/relationships/font" Target="fonts/PlusJakartaSans-bold.fntdata"/><Relationship Id="rId11" Type="http://schemas.openxmlformats.org/officeDocument/2006/relationships/slide" Target="slides/slide5.xml"/><Relationship Id="rId33" Type="http://schemas.openxmlformats.org/officeDocument/2006/relationships/font" Target="fonts/LoraSemiBold-regular.fntdata"/><Relationship Id="rId10" Type="http://schemas.openxmlformats.org/officeDocument/2006/relationships/slide" Target="slides/slide4.xml"/><Relationship Id="rId32" Type="http://schemas.openxmlformats.org/officeDocument/2006/relationships/font" Target="fonts/PlusJakartaSans-boldItalic.fntdata"/><Relationship Id="rId13" Type="http://schemas.openxmlformats.org/officeDocument/2006/relationships/slide" Target="slides/slide7.xml"/><Relationship Id="rId35" Type="http://schemas.openxmlformats.org/officeDocument/2006/relationships/font" Target="fonts/LoraSemiBold-italic.fntdata"/><Relationship Id="rId12" Type="http://schemas.openxmlformats.org/officeDocument/2006/relationships/slide" Target="slides/slide6.xml"/><Relationship Id="rId34" Type="http://schemas.openxmlformats.org/officeDocument/2006/relationships/font" Target="fonts/LoraSemiBold-bold.fntdata"/><Relationship Id="rId15" Type="http://schemas.openxmlformats.org/officeDocument/2006/relationships/slide" Target="slides/slide9.xml"/><Relationship Id="rId37" Type="http://schemas.openxmlformats.org/officeDocument/2006/relationships/font" Target="fonts/CinzelSemiBold-regular.fntdata"/><Relationship Id="rId14" Type="http://schemas.openxmlformats.org/officeDocument/2006/relationships/slide" Target="slides/slide8.xml"/><Relationship Id="rId36" Type="http://schemas.openxmlformats.org/officeDocument/2006/relationships/font" Target="fonts/LoraSemiBold-boldItalic.fntdata"/><Relationship Id="rId17" Type="http://schemas.openxmlformats.org/officeDocument/2006/relationships/slide" Target="slides/slide11.xml"/><Relationship Id="rId39" Type="http://schemas.openxmlformats.org/officeDocument/2006/relationships/font" Target="fonts/PlusJakartaSansSemiBold-regular.fntdata"/><Relationship Id="rId16" Type="http://schemas.openxmlformats.org/officeDocument/2006/relationships/slide" Target="slides/slide10.xml"/><Relationship Id="rId38" Type="http://schemas.openxmlformats.org/officeDocument/2006/relationships/font" Target="fonts/CinzelSemiBold-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331ed8fb6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f331ed8fb6_0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f331ed8fb6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f331ed8fb6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f1fb0dd101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f1fb0dd101_9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1fb0dd101_9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f1fb0dd101_9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1fb0dd101_9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f1fb0dd101_9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1fb0dd101_1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3f1fb0dd101_1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f1fb0dd101_1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f1fb0dd101_1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331ed8fb6_7_0)">
  <p:cSld name="Generated (g3f331ed8fb6_7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4.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23.png"/><Relationship Id="rId8"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3.png"/><Relationship Id="rId6" Type="http://schemas.openxmlformats.org/officeDocument/2006/relationships/image" Target="../media/image19.png"/><Relationship Id="rId7" Type="http://schemas.openxmlformats.org/officeDocument/2006/relationships/image" Target="../media/image22.png"/><Relationship Id="rId8"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8.png"/><Relationship Id="rId6"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E0D1B"/>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6" name="Google Shape;86;p14"/>
          <p:cNvPicPr preferRelativeResize="0"/>
          <p:nvPr/>
        </p:nvPicPr>
        <p:blipFill rotWithShape="1">
          <a:blip r:embed="rId4">
            <a:alphaModFix/>
          </a:blip>
          <a:srcRect b="0" l="0" r="0" t="0"/>
          <a:stretch/>
        </p:blipFill>
        <p:spPr>
          <a:xfrm>
            <a:off x="9525" y="9525"/>
            <a:ext cx="12172950" cy="6838950"/>
          </a:xfrm>
          <a:prstGeom prst="rect">
            <a:avLst/>
          </a:prstGeom>
          <a:noFill/>
          <a:ln>
            <a:noFill/>
          </a:ln>
        </p:spPr>
      </p:pic>
      <p:pic>
        <p:nvPicPr>
          <p:cNvPr descr="image.png" id="87" name="Google Shape;87;p14"/>
          <p:cNvPicPr preferRelativeResize="0"/>
          <p:nvPr/>
        </p:nvPicPr>
        <p:blipFill rotWithShape="1">
          <a:blip r:embed="rId5">
            <a:alphaModFix/>
          </a:blip>
          <a:srcRect b="0" l="0" r="0" t="0"/>
          <a:stretch/>
        </p:blipFill>
        <p:spPr>
          <a:xfrm>
            <a:off x="2762250" y="3911947"/>
            <a:ext cx="6667500" cy="702915"/>
          </a:xfrm>
          <a:prstGeom prst="rect">
            <a:avLst/>
          </a:prstGeom>
          <a:noFill/>
          <a:ln>
            <a:noFill/>
          </a:ln>
        </p:spPr>
      </p:pic>
      <p:sp>
        <p:nvSpPr>
          <p:cNvPr id="88" name="Google Shape;88;p14"/>
          <p:cNvSpPr txBox="1"/>
          <p:nvPr/>
        </p:nvSpPr>
        <p:spPr>
          <a:xfrm>
            <a:off x="1057275" y="1536501"/>
            <a:ext cx="1007745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BC9548"/>
                </a:solidFill>
                <a:latin typeface="Cinzel SemiBold"/>
                <a:ea typeface="Cinzel SemiBold"/>
                <a:cs typeface="Cinzel SemiBold"/>
                <a:sym typeface="Cinzel SemiBold"/>
              </a:rPr>
              <a:t>EUROPEAN POLITICAL SCIENCE ASSOCIATION 2026</a:t>
            </a:r>
            <a:endParaRPr/>
          </a:p>
        </p:txBody>
      </p:sp>
      <p:sp>
        <p:nvSpPr>
          <p:cNvPr id="89" name="Google Shape;89;p14"/>
          <p:cNvSpPr txBox="1"/>
          <p:nvPr/>
        </p:nvSpPr>
        <p:spPr>
          <a:xfrm>
            <a:off x="805338" y="1970782"/>
            <a:ext cx="10581300" cy="1194900"/>
          </a:xfrm>
          <a:prstGeom prst="rect">
            <a:avLst/>
          </a:prstGeom>
          <a:noFill/>
          <a:ln>
            <a:noFill/>
          </a:ln>
        </p:spPr>
        <p:txBody>
          <a:bodyPr anchorCtr="0" anchor="t" bIns="0" lIns="0" spcFirstLastPara="1" rIns="0" wrap="square" tIns="0">
            <a:spAutoFit/>
          </a:bodyPr>
          <a:lstStyle/>
          <a:p>
            <a:pPr indent="0" lvl="0" marL="0" marR="0" rtl="0" algn="ctr">
              <a:lnSpc>
                <a:spcPct val="124985"/>
              </a:lnSpc>
              <a:spcBef>
                <a:spcPts val="0"/>
              </a:spcBef>
              <a:spcAft>
                <a:spcPts val="0"/>
              </a:spcAft>
              <a:buNone/>
            </a:pPr>
            <a:r>
              <a:rPr lang="en-US" sz="3450">
                <a:solidFill>
                  <a:srgbClr val="FCFAF7"/>
                </a:solidFill>
                <a:latin typeface="Lora Medium"/>
                <a:ea typeface="Lora Medium"/>
                <a:cs typeface="Lora Medium"/>
                <a:sym typeface="Lora Medium"/>
              </a:rPr>
              <a:t>Voting from the Pew: </a:t>
            </a:r>
            <a:r>
              <a:rPr b="0" i="0" lang="en-US" sz="3450" u="none" cap="none" strike="noStrike">
                <a:solidFill>
                  <a:srgbClr val="FCFAF7"/>
                </a:solidFill>
                <a:latin typeface="Lora Medium"/>
                <a:ea typeface="Lora Medium"/>
                <a:cs typeface="Lora Medium"/>
                <a:sym typeface="Lora Medium"/>
              </a:rPr>
              <a:t>Religion, Gender, and Roll-Call Voting on the Culture Wars</a:t>
            </a:r>
            <a:endParaRPr/>
          </a:p>
        </p:txBody>
      </p:sp>
      <p:sp>
        <p:nvSpPr>
          <p:cNvPr id="90" name="Google Shape;90;p14"/>
          <p:cNvSpPr txBox="1"/>
          <p:nvPr/>
        </p:nvSpPr>
        <p:spPr>
          <a:xfrm>
            <a:off x="1057275" y="4697518"/>
            <a:ext cx="10077600" cy="600000"/>
          </a:xfrm>
          <a:prstGeom prst="rect">
            <a:avLst/>
          </a:prstGeom>
          <a:noFill/>
          <a:ln>
            <a:noFill/>
          </a:ln>
        </p:spPr>
        <p:txBody>
          <a:bodyPr anchorCtr="0" anchor="t" bIns="0" lIns="0" spcFirstLastPara="1" rIns="0" wrap="square" tIns="0">
            <a:spAutoFit/>
          </a:bodyPr>
          <a:lstStyle/>
          <a:p>
            <a:pPr indent="0" lvl="0" marL="0" marR="0" rtl="0" algn="ctr">
              <a:lnSpc>
                <a:spcPct val="159888"/>
              </a:lnSpc>
              <a:spcBef>
                <a:spcPts val="0"/>
              </a:spcBef>
              <a:spcAft>
                <a:spcPts val="0"/>
              </a:spcAft>
              <a:buNone/>
            </a:pPr>
            <a:r>
              <a:rPr b="0" i="0" lang="en-US" sz="1500" u="none" cap="none" strike="noStrike">
                <a:solidFill>
                  <a:srgbClr val="A39B92"/>
                </a:solidFill>
                <a:latin typeface="Plus Jakarta Sans"/>
                <a:ea typeface="Plus Jakarta Sans"/>
                <a:cs typeface="Plus Jakarta Sans"/>
                <a:sym typeface="Plus Jakarta Sans"/>
              </a:rPr>
              <a:t>Draft Chapter from *For God and Party: Religion, Representation, and American Political Parties* (Cambridge University Press, 2027)</a:t>
            </a:r>
            <a:endParaRPr sz="1500"/>
          </a:p>
        </p:txBody>
      </p:sp>
      <p:sp>
        <p:nvSpPr>
          <p:cNvPr id="91" name="Google Shape;91;p14"/>
          <p:cNvSpPr txBox="1"/>
          <p:nvPr/>
        </p:nvSpPr>
        <p:spPr>
          <a:xfrm>
            <a:off x="3829050" y="4159600"/>
            <a:ext cx="2037900" cy="2307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499" u="none" cap="none" strike="noStrike">
                <a:solidFill>
                  <a:srgbClr val="FCFAF7"/>
                </a:solidFill>
                <a:latin typeface="Plus Jakarta Sans SemiBold"/>
                <a:ea typeface="Plus Jakarta Sans SemiBold"/>
                <a:cs typeface="Plus Jakarta Sans SemiBold"/>
                <a:sym typeface="Plus Jakarta Sans SemiBold"/>
              </a:rPr>
              <a:t>John McTague, PhD</a:t>
            </a:r>
            <a:endParaRPr sz="1810"/>
          </a:p>
        </p:txBody>
      </p:sp>
      <p:sp>
        <p:nvSpPr>
          <p:cNvPr id="92" name="Google Shape;92;p14"/>
          <p:cNvSpPr txBox="1"/>
          <p:nvPr/>
        </p:nvSpPr>
        <p:spPr>
          <a:xfrm>
            <a:off x="4000500" y="4416772"/>
            <a:ext cx="1676400" cy="150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975" u="none" cap="none" strike="noStrike">
                <a:solidFill>
                  <a:srgbClr val="BC9548"/>
                </a:solidFill>
                <a:latin typeface="Plus Jakarta Sans"/>
                <a:ea typeface="Plus Jakarta Sans"/>
                <a:cs typeface="Plus Jakarta Sans"/>
                <a:sym typeface="Plus Jakarta Sans"/>
              </a:rPr>
              <a:t>Professor, Towson University</a:t>
            </a:r>
            <a:endParaRPr/>
          </a:p>
        </p:txBody>
      </p:sp>
      <p:sp>
        <p:nvSpPr>
          <p:cNvPr id="93" name="Google Shape;93;p14"/>
          <p:cNvSpPr txBox="1"/>
          <p:nvPr/>
        </p:nvSpPr>
        <p:spPr>
          <a:xfrm>
            <a:off x="6561775" y="4159600"/>
            <a:ext cx="3160200" cy="2307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499" u="none" cap="none" strike="noStrike">
                <a:solidFill>
                  <a:srgbClr val="FCFAF7"/>
                </a:solidFill>
                <a:latin typeface="Plus Jakarta Sans SemiBold"/>
                <a:ea typeface="Plus Jakarta Sans SemiBold"/>
                <a:cs typeface="Plus Jakarta Sans SemiBold"/>
                <a:sym typeface="Plus Jakarta Sans SemiBold"/>
              </a:rPr>
              <a:t>Shanna Pearson-Merkowitz, PhD</a:t>
            </a:r>
            <a:endParaRPr sz="1810"/>
          </a:p>
        </p:txBody>
      </p:sp>
      <p:sp>
        <p:nvSpPr>
          <p:cNvPr id="94" name="Google Shape;94;p14"/>
          <p:cNvSpPr txBox="1"/>
          <p:nvPr/>
        </p:nvSpPr>
        <p:spPr>
          <a:xfrm>
            <a:off x="6686550" y="4416772"/>
            <a:ext cx="2286000" cy="150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975" u="none" cap="none" strike="noStrike">
                <a:solidFill>
                  <a:srgbClr val="BC9548"/>
                </a:solidFill>
                <a:latin typeface="Plus Jakarta Sans"/>
                <a:ea typeface="Plus Jakarta Sans"/>
                <a:cs typeface="Plus Jakarta Sans"/>
                <a:sym typeface="Plus Jakarta Sans"/>
              </a:rPr>
              <a:t>Professor, University of Maryland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98" name="Shape 98"/>
        <p:cNvGrpSpPr/>
        <p:nvPr/>
      </p:nvGrpSpPr>
      <p:grpSpPr>
        <a:xfrm>
          <a:off x="0" y="0"/>
          <a:ext cx="0" cy="0"/>
          <a:chOff x="0" y="0"/>
          <a:chExt cx="0" cy="0"/>
        </a:xfrm>
      </p:grpSpPr>
      <p:pic>
        <p:nvPicPr>
          <p:cNvPr descr="image.png" id="99" name="Google Shape;99;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0" name="Google Shape;100;p15"/>
          <p:cNvPicPr preferRelativeResize="0"/>
          <p:nvPr/>
        </p:nvPicPr>
        <p:blipFill rotWithShape="1">
          <a:blip r:embed="rId4">
            <a:alphaModFix/>
          </a:blip>
          <a:srcRect b="0" l="0" r="0" t="0"/>
          <a:stretch/>
        </p:blipFill>
        <p:spPr>
          <a:xfrm>
            <a:off x="676275" y="1428749"/>
            <a:ext cx="5300650" cy="4072825"/>
          </a:xfrm>
          <a:prstGeom prst="rect">
            <a:avLst/>
          </a:prstGeom>
          <a:noFill/>
          <a:ln>
            <a:noFill/>
          </a:ln>
        </p:spPr>
      </p:pic>
      <p:pic>
        <p:nvPicPr>
          <p:cNvPr descr="image.png" id="101" name="Google Shape;101;p15"/>
          <p:cNvPicPr preferRelativeResize="0"/>
          <p:nvPr/>
        </p:nvPicPr>
        <p:blipFill rotWithShape="1">
          <a:blip r:embed="rId5">
            <a:alphaModFix/>
          </a:blip>
          <a:srcRect b="0" l="0" r="0" t="0"/>
          <a:stretch/>
        </p:blipFill>
        <p:spPr>
          <a:xfrm>
            <a:off x="6215050" y="1409700"/>
            <a:ext cx="5300675" cy="4159675"/>
          </a:xfrm>
          <a:prstGeom prst="rect">
            <a:avLst/>
          </a:prstGeom>
          <a:noFill/>
          <a:ln>
            <a:noFill/>
          </a:ln>
        </p:spPr>
      </p:pic>
      <p:sp>
        <p:nvSpPr>
          <p:cNvPr id="102" name="Google Shape;102;p15"/>
          <p:cNvSpPr txBox="1"/>
          <p:nvPr/>
        </p:nvSpPr>
        <p:spPr>
          <a:xfrm>
            <a:off x="914400" y="1649759"/>
            <a:ext cx="4824300" cy="2079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lang="en-US" sz="1350">
                <a:solidFill>
                  <a:srgbClr val="BC9548"/>
                </a:solidFill>
                <a:latin typeface="Cinzel SemiBold"/>
                <a:ea typeface="Cinzel SemiBold"/>
                <a:cs typeface="Cinzel SemiBold"/>
                <a:sym typeface="Cinzel SemiBold"/>
              </a:rPr>
              <a:t>Theory</a:t>
            </a:r>
            <a:endParaRPr sz="1550"/>
          </a:p>
        </p:txBody>
      </p:sp>
      <p:sp>
        <p:nvSpPr>
          <p:cNvPr id="103" name="Google Shape;103;p15"/>
          <p:cNvSpPr txBox="1"/>
          <p:nvPr/>
        </p:nvSpPr>
        <p:spPr>
          <a:xfrm>
            <a:off x="914400" y="2066850"/>
            <a:ext cx="4824300" cy="3398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600">
                <a:solidFill>
                  <a:schemeClr val="dk1"/>
                </a:solidFill>
                <a:latin typeface="Times New Roman"/>
                <a:ea typeface="Times New Roman"/>
                <a:cs typeface="Times New Roman"/>
                <a:sym typeface="Times New Roman"/>
              </a:rPr>
              <a:t>How do political parties develop their brand identities? We explain how and why the two major parties changed over time with a specific focus on the underappreciated role of descriptive representation of political elites, particularly members of the U.S. Senate. </a:t>
            </a:r>
            <a:endParaRPr sz="1600">
              <a:solidFill>
                <a:schemeClr val="dk1"/>
              </a:solidFill>
              <a:latin typeface="Times New Roman"/>
              <a:ea typeface="Times New Roman"/>
              <a:cs typeface="Times New Roman"/>
              <a:sym typeface="Times New Roman"/>
            </a:endParaRPr>
          </a:p>
          <a:p>
            <a:pPr indent="0" lvl="0" marL="0" marR="0" rtl="0" algn="l">
              <a:lnSpc>
                <a:spcPct val="160000"/>
              </a:lnSpc>
              <a:spcBef>
                <a:spcPts val="0"/>
              </a:spcBef>
              <a:spcAft>
                <a:spcPts val="0"/>
              </a:spcAft>
              <a:buNone/>
            </a:pPr>
            <a:r>
              <a:rPr lang="en-US" sz="1600">
                <a:solidFill>
                  <a:schemeClr val="dk1"/>
                </a:solidFill>
                <a:latin typeface="Times New Roman"/>
                <a:ea typeface="Times New Roman"/>
                <a:cs typeface="Times New Roman"/>
                <a:sym typeface="Times New Roman"/>
              </a:rPr>
              <a:t>“Descriptive representation” is the concept that members who demographically “look like” their constituents act in ways that best serve those constituents’ interests and preferences. </a:t>
            </a:r>
            <a:endParaRPr sz="1725">
              <a:solidFill>
                <a:srgbClr val="2D3136"/>
              </a:solidFill>
              <a:latin typeface="Plus Jakarta Sans"/>
              <a:ea typeface="Plus Jakarta Sans"/>
              <a:cs typeface="Plus Jakarta Sans"/>
              <a:sym typeface="Plus Jakarta Sans"/>
            </a:endParaRPr>
          </a:p>
        </p:txBody>
      </p:sp>
      <p:sp>
        <p:nvSpPr>
          <p:cNvPr id="104" name="Google Shape;104;p15"/>
          <p:cNvSpPr txBox="1"/>
          <p:nvPr/>
        </p:nvSpPr>
        <p:spPr>
          <a:xfrm>
            <a:off x="6453187" y="1649759"/>
            <a:ext cx="4824300" cy="2079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lang="en-US" sz="1350">
                <a:solidFill>
                  <a:srgbClr val="BC9548"/>
                </a:solidFill>
                <a:latin typeface="Cinzel SemiBold"/>
                <a:ea typeface="Cinzel SemiBold"/>
                <a:cs typeface="Cinzel SemiBold"/>
                <a:sym typeface="Cinzel SemiBold"/>
              </a:rPr>
              <a:t>Chapters</a:t>
            </a:r>
            <a:endParaRPr sz="1700"/>
          </a:p>
        </p:txBody>
      </p:sp>
      <p:sp>
        <p:nvSpPr>
          <p:cNvPr id="105" name="Google Shape;105;p15"/>
          <p:cNvSpPr txBox="1"/>
          <p:nvPr/>
        </p:nvSpPr>
        <p:spPr>
          <a:xfrm>
            <a:off x="6453187" y="2053530"/>
            <a:ext cx="4824300" cy="3534900"/>
          </a:xfrm>
          <a:prstGeom prst="rect">
            <a:avLst/>
          </a:prstGeom>
          <a:noFill/>
          <a:ln>
            <a:noFill/>
          </a:ln>
        </p:spPr>
        <p:txBody>
          <a:bodyPr anchorCtr="0" anchor="t" bIns="0" lIns="0" spcFirstLastPara="1" rIns="0" wrap="square" tIns="0">
            <a:spAutoFit/>
          </a:bodyPr>
          <a:lstStyle/>
          <a:p>
            <a:pPr indent="-330200" lvl="0" marL="457200" marR="0" rtl="0" algn="l">
              <a:lnSpc>
                <a:spcPct val="160000"/>
              </a:lnSpc>
              <a:spcBef>
                <a:spcPts val="0"/>
              </a:spcBef>
              <a:spcAft>
                <a:spcPts val="0"/>
              </a:spcAft>
              <a:buSzPts val="1600"/>
              <a:buAutoNum type="arabicPeriod"/>
            </a:pPr>
            <a:r>
              <a:rPr lang="en-US" sz="1325">
                <a:solidFill>
                  <a:srgbClr val="2D3136"/>
                </a:solidFill>
                <a:latin typeface="Plus Jakarta Sans"/>
                <a:ea typeface="Plus Jakarta Sans"/>
                <a:cs typeface="Plus Jakarta Sans"/>
                <a:sym typeface="Plus Jakarta Sans"/>
              </a:rPr>
              <a:t>Introduction</a:t>
            </a:r>
            <a:endParaRPr sz="1325">
              <a:solidFill>
                <a:srgbClr val="2D3136"/>
              </a:solidFill>
              <a:latin typeface="Plus Jakarta Sans"/>
              <a:ea typeface="Plus Jakarta Sans"/>
              <a:cs typeface="Plus Jakarta Sans"/>
              <a:sym typeface="Plus Jakarta Sans"/>
            </a:endParaRPr>
          </a:p>
          <a:p>
            <a:pPr indent="-312738" lvl="0" marL="457200" marR="0" rtl="0" algn="l">
              <a:lnSpc>
                <a:spcPct val="160000"/>
              </a:lnSpc>
              <a:spcBef>
                <a:spcPts val="0"/>
              </a:spcBef>
              <a:spcAft>
                <a:spcPts val="0"/>
              </a:spcAft>
              <a:buClr>
                <a:srgbClr val="2D3136"/>
              </a:buClr>
              <a:buSzPts val="1325"/>
              <a:buFont typeface="Plus Jakarta Sans"/>
              <a:buAutoNum type="arabicPeriod"/>
            </a:pPr>
            <a:r>
              <a:rPr lang="en-US" sz="1325">
                <a:solidFill>
                  <a:srgbClr val="2D3136"/>
                </a:solidFill>
                <a:latin typeface="Plus Jakarta Sans"/>
                <a:ea typeface="Plus Jakarta Sans"/>
                <a:cs typeface="Plus Jakarta Sans"/>
                <a:sym typeface="Plus Jakarta Sans"/>
              </a:rPr>
              <a:t>Theory</a:t>
            </a:r>
            <a:endParaRPr sz="1325">
              <a:solidFill>
                <a:srgbClr val="2D3136"/>
              </a:solidFill>
              <a:latin typeface="Plus Jakarta Sans"/>
              <a:ea typeface="Plus Jakarta Sans"/>
              <a:cs typeface="Plus Jakarta Sans"/>
              <a:sym typeface="Plus Jakarta Sans"/>
            </a:endParaRPr>
          </a:p>
          <a:p>
            <a:pPr indent="-312738" lvl="0" marL="457200" marR="0" rtl="0" algn="l">
              <a:lnSpc>
                <a:spcPct val="160000"/>
              </a:lnSpc>
              <a:spcBef>
                <a:spcPts val="0"/>
              </a:spcBef>
              <a:spcAft>
                <a:spcPts val="0"/>
              </a:spcAft>
              <a:buClr>
                <a:srgbClr val="2D3136"/>
              </a:buClr>
              <a:buSzPts val="1325"/>
              <a:buFont typeface="Plus Jakarta Sans"/>
              <a:buAutoNum type="arabicPeriod"/>
            </a:pPr>
            <a:r>
              <a:rPr lang="en-US" sz="1325">
                <a:solidFill>
                  <a:srgbClr val="2D3136"/>
                </a:solidFill>
                <a:latin typeface="Plus Jakarta Sans"/>
                <a:ea typeface="Plus Jakarta Sans"/>
                <a:cs typeface="Plus Jakarta Sans"/>
                <a:sym typeface="Plus Jakarta Sans"/>
              </a:rPr>
              <a:t>Description of the religious and party </a:t>
            </a:r>
            <a:r>
              <a:rPr lang="en-US" sz="1325">
                <a:solidFill>
                  <a:srgbClr val="2D3136"/>
                </a:solidFill>
                <a:latin typeface="Plus Jakarta Sans"/>
                <a:ea typeface="Plus Jakarta Sans"/>
                <a:cs typeface="Plus Jakarta Sans"/>
                <a:sym typeface="Plus Jakarta Sans"/>
              </a:rPr>
              <a:t>changes</a:t>
            </a:r>
            <a:r>
              <a:rPr lang="en-US" sz="1325">
                <a:solidFill>
                  <a:srgbClr val="2D3136"/>
                </a:solidFill>
                <a:latin typeface="Plus Jakarta Sans"/>
                <a:ea typeface="Plus Jakarta Sans"/>
                <a:cs typeface="Plus Jakarta Sans"/>
                <a:sym typeface="Plus Jakarta Sans"/>
              </a:rPr>
              <a:t> of the US Senate since 1969.</a:t>
            </a:r>
            <a:endParaRPr sz="1325">
              <a:solidFill>
                <a:srgbClr val="2D3136"/>
              </a:solidFill>
              <a:latin typeface="Plus Jakarta Sans"/>
              <a:ea typeface="Plus Jakarta Sans"/>
              <a:cs typeface="Plus Jakarta Sans"/>
              <a:sym typeface="Plus Jakarta Sans"/>
            </a:endParaRPr>
          </a:p>
          <a:p>
            <a:pPr indent="-312738" lvl="0" marL="457200" marR="0" rtl="0" algn="l">
              <a:lnSpc>
                <a:spcPct val="160000"/>
              </a:lnSpc>
              <a:spcBef>
                <a:spcPts val="0"/>
              </a:spcBef>
              <a:spcAft>
                <a:spcPts val="0"/>
              </a:spcAft>
              <a:buClr>
                <a:srgbClr val="2D3136"/>
              </a:buClr>
              <a:buSzPts val="1325"/>
              <a:buFont typeface="Plus Jakarta Sans"/>
              <a:buAutoNum type="arabicPeriod"/>
            </a:pPr>
            <a:r>
              <a:rPr lang="en-US" sz="1325">
                <a:solidFill>
                  <a:srgbClr val="2D3136"/>
                </a:solidFill>
                <a:latin typeface="Plus Jakarta Sans"/>
                <a:ea typeface="Plus Jakarta Sans"/>
                <a:cs typeface="Plus Jakarta Sans"/>
                <a:sym typeface="Plus Jakarta Sans"/>
              </a:rPr>
              <a:t>Evolution of the abortion debate since 1969 (</a:t>
            </a:r>
            <a:r>
              <a:rPr lang="en-US" sz="1325">
                <a:solidFill>
                  <a:srgbClr val="2D3136"/>
                </a:solidFill>
                <a:latin typeface="Plus Jakarta Sans"/>
                <a:ea typeface="Plus Jakarta Sans"/>
                <a:cs typeface="Plus Jakarta Sans"/>
                <a:sym typeface="Plus Jakarta Sans"/>
              </a:rPr>
              <a:t>thematic</a:t>
            </a:r>
            <a:r>
              <a:rPr lang="en-US" sz="1325">
                <a:solidFill>
                  <a:srgbClr val="2D3136"/>
                </a:solidFill>
                <a:latin typeface="Plus Jakarta Sans"/>
                <a:ea typeface="Plus Jakarta Sans"/>
                <a:cs typeface="Plus Jakarta Sans"/>
                <a:sym typeface="Plus Jakarta Sans"/>
              </a:rPr>
              <a:t> analysis of floor </a:t>
            </a:r>
            <a:r>
              <a:rPr lang="en-US" sz="1325">
                <a:solidFill>
                  <a:srgbClr val="2D3136"/>
                </a:solidFill>
                <a:latin typeface="Plus Jakarta Sans"/>
                <a:ea typeface="Plus Jakarta Sans"/>
                <a:cs typeface="Plus Jakarta Sans"/>
                <a:sym typeface="Plus Jakarta Sans"/>
              </a:rPr>
              <a:t>speeches using qualitative and Machine learning techniques</a:t>
            </a:r>
            <a:r>
              <a:rPr lang="en-US" sz="1325">
                <a:solidFill>
                  <a:srgbClr val="2D3136"/>
                </a:solidFill>
                <a:latin typeface="Plus Jakarta Sans"/>
                <a:ea typeface="Plus Jakarta Sans"/>
                <a:cs typeface="Plus Jakarta Sans"/>
                <a:sym typeface="Plus Jakarta Sans"/>
              </a:rPr>
              <a:t>)</a:t>
            </a:r>
            <a:endParaRPr sz="1325">
              <a:solidFill>
                <a:srgbClr val="2D3136"/>
              </a:solidFill>
              <a:latin typeface="Plus Jakarta Sans"/>
              <a:ea typeface="Plus Jakarta Sans"/>
              <a:cs typeface="Plus Jakarta Sans"/>
              <a:sym typeface="Plus Jakarta Sans"/>
            </a:endParaRPr>
          </a:p>
          <a:p>
            <a:pPr indent="-312738" lvl="0" marL="457200" marR="0" rtl="0" algn="l">
              <a:lnSpc>
                <a:spcPct val="160000"/>
              </a:lnSpc>
              <a:spcBef>
                <a:spcPts val="0"/>
              </a:spcBef>
              <a:spcAft>
                <a:spcPts val="0"/>
              </a:spcAft>
              <a:buClr>
                <a:srgbClr val="2D3136"/>
              </a:buClr>
              <a:buSzPts val="1325"/>
              <a:buFont typeface="Plus Jakarta Sans"/>
              <a:buAutoNum type="arabicPeriod"/>
            </a:pPr>
            <a:r>
              <a:rPr lang="en-US" sz="1325">
                <a:solidFill>
                  <a:srgbClr val="2D3136"/>
                </a:solidFill>
                <a:latin typeface="Plus Jakarta Sans"/>
                <a:ea typeface="Plus Jakarta Sans"/>
                <a:cs typeface="Plus Jakarta Sans"/>
                <a:sym typeface="Plus Jakarta Sans"/>
              </a:rPr>
              <a:t>Bill Introductions </a:t>
            </a:r>
            <a:endParaRPr sz="1325">
              <a:solidFill>
                <a:srgbClr val="2D3136"/>
              </a:solidFill>
              <a:latin typeface="Plus Jakarta Sans"/>
              <a:ea typeface="Plus Jakarta Sans"/>
              <a:cs typeface="Plus Jakarta Sans"/>
              <a:sym typeface="Plus Jakarta Sans"/>
            </a:endParaRPr>
          </a:p>
          <a:p>
            <a:pPr indent="-312738" lvl="0" marL="457200" marR="0" rtl="0" algn="l">
              <a:lnSpc>
                <a:spcPct val="160000"/>
              </a:lnSpc>
              <a:spcBef>
                <a:spcPts val="0"/>
              </a:spcBef>
              <a:spcAft>
                <a:spcPts val="0"/>
              </a:spcAft>
              <a:buClr>
                <a:srgbClr val="2D3136"/>
              </a:buClr>
              <a:buSzPts val="1325"/>
              <a:buFont typeface="Plus Jakarta Sans"/>
              <a:buAutoNum type="arabicPeriod"/>
            </a:pPr>
            <a:r>
              <a:rPr lang="en-US" sz="1325">
                <a:solidFill>
                  <a:srgbClr val="2D3136"/>
                </a:solidFill>
                <a:latin typeface="Plus Jakarta Sans"/>
                <a:ea typeface="Plus Jakarta Sans"/>
                <a:cs typeface="Plus Jakarta Sans"/>
                <a:sym typeface="Plus Jakarta Sans"/>
              </a:rPr>
              <a:t>Voting Behavior (this one!)</a:t>
            </a:r>
            <a:endParaRPr sz="1325">
              <a:solidFill>
                <a:srgbClr val="2D3136"/>
              </a:solidFill>
              <a:latin typeface="Plus Jakarta Sans"/>
              <a:ea typeface="Plus Jakarta Sans"/>
              <a:cs typeface="Plus Jakarta Sans"/>
              <a:sym typeface="Plus Jakarta Sans"/>
            </a:endParaRPr>
          </a:p>
          <a:p>
            <a:pPr indent="-312738" lvl="0" marL="457200" marR="0" rtl="0" algn="l">
              <a:lnSpc>
                <a:spcPct val="160000"/>
              </a:lnSpc>
              <a:spcBef>
                <a:spcPts val="0"/>
              </a:spcBef>
              <a:spcAft>
                <a:spcPts val="0"/>
              </a:spcAft>
              <a:buClr>
                <a:srgbClr val="2D3136"/>
              </a:buClr>
              <a:buSzPts val="1325"/>
              <a:buFont typeface="Plus Jakarta Sans"/>
              <a:buAutoNum type="arabicPeriod"/>
            </a:pPr>
            <a:r>
              <a:rPr lang="en-US" sz="1325">
                <a:solidFill>
                  <a:srgbClr val="2D3136"/>
                </a:solidFill>
                <a:latin typeface="Plus Jakarta Sans"/>
                <a:ea typeface="Plus Jakarta Sans"/>
                <a:cs typeface="Plus Jakarta Sans"/>
                <a:sym typeface="Plus Jakarta Sans"/>
              </a:rPr>
              <a:t>Race and Immigration policy in an (almost) all white Senate</a:t>
            </a:r>
            <a:endParaRPr sz="1325">
              <a:solidFill>
                <a:srgbClr val="2D3136"/>
              </a:solidFill>
              <a:latin typeface="Plus Jakarta Sans"/>
              <a:ea typeface="Plus Jakarta Sans"/>
              <a:cs typeface="Plus Jakarta Sans"/>
              <a:sym typeface="Plus Jakarta Sans"/>
            </a:endParaRPr>
          </a:p>
        </p:txBody>
      </p:sp>
      <p:sp>
        <p:nvSpPr>
          <p:cNvPr id="106" name="Google Shape;106;p15"/>
          <p:cNvSpPr txBox="1"/>
          <p:nvPr/>
        </p:nvSpPr>
        <p:spPr>
          <a:xfrm>
            <a:off x="676275" y="485775"/>
            <a:ext cx="11381400" cy="863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550">
                <a:solidFill>
                  <a:srgbClr val="5E0D1B"/>
                </a:solidFill>
                <a:latin typeface="Lora SemiBold"/>
                <a:ea typeface="Lora SemiBold"/>
                <a:cs typeface="Lora SemiBold"/>
                <a:sym typeface="Lora SemiBold"/>
              </a:rPr>
              <a:t>The Book: Investigates Descriptive Representation and the Cultural and Political  Evolution of the US Senate</a:t>
            </a:r>
            <a:endParaRPr/>
          </a:p>
        </p:txBody>
      </p:sp>
      <p:sp>
        <p:nvSpPr>
          <p:cNvPr id="107" name="Google Shape;107;p15"/>
          <p:cNvSpPr/>
          <p:nvPr/>
        </p:nvSpPr>
        <p:spPr>
          <a:xfrm>
            <a:off x="676275" y="969615"/>
            <a:ext cx="10839600" cy="9600"/>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111" name="Shape 111"/>
        <p:cNvGrpSpPr/>
        <p:nvPr/>
      </p:nvGrpSpPr>
      <p:grpSpPr>
        <a:xfrm>
          <a:off x="0" y="0"/>
          <a:ext cx="0" cy="0"/>
          <a:chOff x="0" y="0"/>
          <a:chExt cx="0" cy="0"/>
        </a:xfrm>
      </p:grpSpPr>
      <p:pic>
        <p:nvPicPr>
          <p:cNvPr descr="image.png" id="112" name="Google Shape;112;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3" name="Google Shape;113;p16"/>
          <p:cNvPicPr preferRelativeResize="0"/>
          <p:nvPr/>
        </p:nvPicPr>
        <p:blipFill rotWithShape="1">
          <a:blip r:embed="rId4">
            <a:alphaModFix/>
          </a:blip>
          <a:srcRect b="0" l="0" r="0" t="0"/>
          <a:stretch/>
        </p:blipFill>
        <p:spPr>
          <a:xfrm>
            <a:off x="676275" y="1238249"/>
            <a:ext cx="5300650" cy="4072825"/>
          </a:xfrm>
          <a:prstGeom prst="rect">
            <a:avLst/>
          </a:prstGeom>
          <a:noFill/>
          <a:ln>
            <a:noFill/>
          </a:ln>
        </p:spPr>
      </p:pic>
      <p:pic>
        <p:nvPicPr>
          <p:cNvPr descr="image.png" id="114" name="Google Shape;114;p16"/>
          <p:cNvPicPr preferRelativeResize="0"/>
          <p:nvPr/>
        </p:nvPicPr>
        <p:blipFill rotWithShape="1">
          <a:blip r:embed="rId5">
            <a:alphaModFix/>
          </a:blip>
          <a:srcRect b="0" l="0" r="0" t="0"/>
          <a:stretch/>
        </p:blipFill>
        <p:spPr>
          <a:xfrm>
            <a:off x="6215050" y="1238249"/>
            <a:ext cx="5300675" cy="4072825"/>
          </a:xfrm>
          <a:prstGeom prst="rect">
            <a:avLst/>
          </a:prstGeom>
          <a:noFill/>
          <a:ln>
            <a:noFill/>
          </a:ln>
        </p:spPr>
      </p:pic>
      <p:sp>
        <p:nvSpPr>
          <p:cNvPr id="115" name="Google Shape;115;p16"/>
          <p:cNvSpPr txBox="1"/>
          <p:nvPr/>
        </p:nvSpPr>
        <p:spPr>
          <a:xfrm>
            <a:off x="914400" y="1459259"/>
            <a:ext cx="4824300" cy="2385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350" u="none" cap="none" strike="noStrike">
                <a:solidFill>
                  <a:srgbClr val="BC9548"/>
                </a:solidFill>
                <a:latin typeface="Cinzel SemiBold"/>
                <a:ea typeface="Cinzel SemiBold"/>
                <a:cs typeface="Cinzel SemiBold"/>
                <a:sym typeface="Cinzel SemiBold"/>
              </a:rPr>
              <a:t>THE HI</a:t>
            </a:r>
            <a:r>
              <a:rPr lang="en-US" sz="1550">
                <a:solidFill>
                  <a:srgbClr val="BC9548"/>
                </a:solidFill>
                <a:latin typeface="Cinzel SemiBold"/>
                <a:ea typeface="Cinzel SemiBold"/>
                <a:cs typeface="Cinzel SemiBold"/>
                <a:sym typeface="Cinzel SemiBold"/>
              </a:rPr>
              <a:t>story of the us political parties</a:t>
            </a:r>
            <a:endParaRPr sz="1550"/>
          </a:p>
        </p:txBody>
      </p:sp>
      <p:sp>
        <p:nvSpPr>
          <p:cNvPr id="116" name="Google Shape;116;p16"/>
          <p:cNvSpPr txBox="1"/>
          <p:nvPr/>
        </p:nvSpPr>
        <p:spPr>
          <a:xfrm>
            <a:off x="914400" y="1863030"/>
            <a:ext cx="50655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5E0D1B"/>
                </a:solidFill>
                <a:latin typeface="Lora SemiBold"/>
                <a:ea typeface="Lora SemiBold"/>
                <a:cs typeface="Lora SemiBold"/>
                <a:sym typeface="Lora SemiBold"/>
              </a:rPr>
              <a:t>Overlapping Coalitions</a:t>
            </a:r>
            <a:endParaRPr sz="1700"/>
          </a:p>
        </p:txBody>
      </p:sp>
      <p:sp>
        <p:nvSpPr>
          <p:cNvPr id="117" name="Google Shape;117;p16"/>
          <p:cNvSpPr txBox="1"/>
          <p:nvPr/>
        </p:nvSpPr>
        <p:spPr>
          <a:xfrm>
            <a:off x="914400" y="2358330"/>
            <a:ext cx="4824300" cy="183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25" u="none" cap="none" strike="noStrike">
                <a:solidFill>
                  <a:srgbClr val="2D3136"/>
                </a:solidFill>
                <a:latin typeface="Plus Jakarta Sans"/>
                <a:ea typeface="Plus Jakarta Sans"/>
                <a:cs typeface="Plus Jakarta Sans"/>
                <a:sym typeface="Plus Jakarta Sans"/>
              </a:rPr>
              <a:t>Historically, the Senate featured internally diverse parties. Both political parties contained a plurality of mainline Protestants </a:t>
            </a:r>
            <a:r>
              <a:rPr lang="en-US" sz="1325">
                <a:solidFill>
                  <a:srgbClr val="2D3136"/>
                </a:solidFill>
                <a:latin typeface="Plus Jakarta Sans"/>
                <a:ea typeface="Plus Jakarta Sans"/>
                <a:cs typeface="Plus Jakarta Sans"/>
                <a:sym typeface="Plus Jakarta Sans"/>
              </a:rPr>
              <a:t>and some representation of other groups. </a:t>
            </a:r>
            <a:endParaRPr sz="1325">
              <a:solidFill>
                <a:srgbClr val="2D3136"/>
              </a:solidFill>
              <a:latin typeface="Plus Jakarta Sans"/>
              <a:ea typeface="Plus Jakarta Sans"/>
              <a:cs typeface="Plus Jakarta Sans"/>
              <a:sym typeface="Plus Jakarta Sans"/>
            </a:endParaRPr>
          </a:p>
          <a:p>
            <a:pPr indent="0" lvl="0" marL="0" marR="0" rtl="0" algn="l">
              <a:lnSpc>
                <a:spcPct val="160000"/>
              </a:lnSpc>
              <a:spcBef>
                <a:spcPts val="0"/>
              </a:spcBef>
              <a:spcAft>
                <a:spcPts val="0"/>
              </a:spcAft>
              <a:buNone/>
            </a:pPr>
            <a:r>
              <a:t/>
            </a:r>
            <a:endParaRPr sz="1325">
              <a:solidFill>
                <a:srgbClr val="2D3136"/>
              </a:solidFill>
              <a:latin typeface="Plus Jakarta Sans"/>
              <a:ea typeface="Plus Jakarta Sans"/>
              <a:cs typeface="Plus Jakarta Sans"/>
              <a:sym typeface="Plus Jakarta Sans"/>
            </a:endParaRPr>
          </a:p>
          <a:p>
            <a:pPr indent="0" lvl="0" marL="0" marR="0" rtl="0" algn="l">
              <a:lnSpc>
                <a:spcPct val="160000"/>
              </a:lnSpc>
              <a:spcBef>
                <a:spcPts val="0"/>
              </a:spcBef>
              <a:spcAft>
                <a:spcPts val="0"/>
              </a:spcAft>
              <a:buNone/>
            </a:pPr>
            <a:r>
              <a:rPr lang="en-US" sz="1325">
                <a:solidFill>
                  <a:srgbClr val="2D3136"/>
                </a:solidFill>
                <a:latin typeface="Plus Jakarta Sans"/>
                <a:ea typeface="Plus Jakarta Sans"/>
                <a:cs typeface="Plus Jakarta Sans"/>
                <a:sym typeface="Plus Jakarta Sans"/>
              </a:rPr>
              <a:t>Gender and religion, not party, were largely predictive of cultural voting.</a:t>
            </a:r>
            <a:endParaRPr sz="1325">
              <a:solidFill>
                <a:srgbClr val="2D3136"/>
              </a:solidFill>
              <a:latin typeface="Plus Jakarta Sans"/>
              <a:ea typeface="Plus Jakarta Sans"/>
              <a:cs typeface="Plus Jakarta Sans"/>
              <a:sym typeface="Plus Jakarta Sans"/>
            </a:endParaRPr>
          </a:p>
        </p:txBody>
      </p:sp>
      <p:sp>
        <p:nvSpPr>
          <p:cNvPr id="118" name="Google Shape;118;p16"/>
          <p:cNvSpPr txBox="1"/>
          <p:nvPr/>
        </p:nvSpPr>
        <p:spPr>
          <a:xfrm>
            <a:off x="6453187" y="1459259"/>
            <a:ext cx="4824300" cy="2079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350" u="none" cap="none" strike="noStrike">
                <a:solidFill>
                  <a:srgbClr val="BC9548"/>
                </a:solidFill>
                <a:latin typeface="Cinzel SemiBold"/>
                <a:ea typeface="Cinzel SemiBold"/>
                <a:cs typeface="Cinzel SemiBold"/>
                <a:sym typeface="Cinzel SemiBold"/>
              </a:rPr>
              <a:t>THE MODERN REALITY</a:t>
            </a:r>
            <a:endParaRPr sz="1700"/>
          </a:p>
        </p:txBody>
      </p:sp>
      <p:sp>
        <p:nvSpPr>
          <p:cNvPr id="119" name="Google Shape;119;p16"/>
          <p:cNvSpPr txBox="1"/>
          <p:nvPr/>
        </p:nvSpPr>
        <p:spPr>
          <a:xfrm>
            <a:off x="6453187" y="1863030"/>
            <a:ext cx="50655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5E0D1B"/>
                </a:solidFill>
                <a:latin typeface="Lora SemiBold"/>
                <a:ea typeface="Lora SemiBold"/>
                <a:cs typeface="Lora SemiBold"/>
                <a:sym typeface="Lora SemiBold"/>
              </a:rPr>
              <a:t>Identity-Based Sorting</a:t>
            </a:r>
            <a:endParaRPr sz="1700"/>
          </a:p>
        </p:txBody>
      </p:sp>
      <p:sp>
        <p:nvSpPr>
          <p:cNvPr id="120" name="Google Shape;120;p16"/>
          <p:cNvSpPr txBox="1"/>
          <p:nvPr/>
        </p:nvSpPr>
        <p:spPr>
          <a:xfrm>
            <a:off x="6453187" y="2358330"/>
            <a:ext cx="4824300" cy="530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25" u="none" cap="none" strike="noStrike">
                <a:solidFill>
                  <a:srgbClr val="2D3136"/>
                </a:solidFill>
                <a:latin typeface="Plus Jakarta Sans"/>
                <a:ea typeface="Plus Jakarta Sans"/>
                <a:cs typeface="Plus Jakarta Sans"/>
                <a:sym typeface="Plus Jakarta Sans"/>
              </a:rPr>
              <a:t>Today, polarization is deeply  aligned with demographic </a:t>
            </a:r>
            <a:r>
              <a:rPr lang="en-US" sz="1325">
                <a:solidFill>
                  <a:srgbClr val="2D3136"/>
                </a:solidFill>
                <a:latin typeface="Plus Jakarta Sans"/>
                <a:ea typeface="Plus Jakarta Sans"/>
                <a:cs typeface="Plus Jakarta Sans"/>
                <a:sym typeface="Plus Jakarta Sans"/>
              </a:rPr>
              <a:t>traits</a:t>
            </a:r>
            <a:r>
              <a:rPr b="0" i="0" lang="en-US" sz="1325" u="none" cap="none" strike="noStrike">
                <a:solidFill>
                  <a:srgbClr val="2D3136"/>
                </a:solidFill>
                <a:latin typeface="Plus Jakarta Sans"/>
                <a:ea typeface="Plus Jakarta Sans"/>
                <a:cs typeface="Plus Jakarta Sans"/>
                <a:sym typeface="Plus Jakarta Sans"/>
              </a:rPr>
              <a:t>. Modern party caucuses have nearly fully "sorted."</a:t>
            </a:r>
            <a:endParaRPr sz="1600"/>
          </a:p>
        </p:txBody>
      </p:sp>
      <p:sp>
        <p:nvSpPr>
          <p:cNvPr id="121" name="Google Shape;121;p16"/>
          <p:cNvSpPr txBox="1"/>
          <p:nvPr/>
        </p:nvSpPr>
        <p:spPr>
          <a:xfrm>
            <a:off x="6453187" y="3444180"/>
            <a:ext cx="4824300" cy="856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25" u="none" cap="none" strike="noStrike">
                <a:solidFill>
                  <a:srgbClr val="2D3136"/>
                </a:solidFill>
                <a:latin typeface="Plus Jakarta Sans"/>
                <a:ea typeface="Plus Jakarta Sans"/>
                <a:cs typeface="Plus Jakarta Sans"/>
                <a:sym typeface="Plus Jakarta Sans"/>
              </a:rPr>
              <a:t>Evangelical and Catholic men dominate the Republican c</a:t>
            </a:r>
            <a:r>
              <a:rPr lang="en-US" sz="1325">
                <a:solidFill>
                  <a:srgbClr val="2D3136"/>
                </a:solidFill>
                <a:latin typeface="Plus Jakarta Sans"/>
                <a:ea typeface="Plus Jakarta Sans"/>
                <a:cs typeface="Plus Jakarta Sans"/>
                <a:sym typeface="Plus Jakarta Sans"/>
              </a:rPr>
              <a:t>oalition</a:t>
            </a:r>
            <a:r>
              <a:rPr b="0" i="0" lang="en-US" sz="1325" u="none" cap="none" strike="noStrike">
                <a:solidFill>
                  <a:srgbClr val="2D3136"/>
                </a:solidFill>
                <a:latin typeface="Plus Jakarta Sans"/>
                <a:ea typeface="Plus Jakarta Sans"/>
                <a:cs typeface="Plus Jakarta Sans"/>
                <a:sym typeface="Plus Jakarta Sans"/>
              </a:rPr>
              <a:t>. Meanwhile, women, Jewish, and other minority religious cohorts </a:t>
            </a:r>
            <a:r>
              <a:rPr lang="en-US" sz="1325">
                <a:solidFill>
                  <a:srgbClr val="2D3136"/>
                </a:solidFill>
                <a:latin typeface="Plus Jakarta Sans"/>
                <a:ea typeface="Plus Jakarta Sans"/>
                <a:cs typeface="Plus Jakarta Sans"/>
                <a:sym typeface="Plus Jakarta Sans"/>
              </a:rPr>
              <a:t>have sorted into the Democratic Party. </a:t>
            </a:r>
            <a:endParaRPr sz="1600"/>
          </a:p>
        </p:txBody>
      </p:sp>
      <p:sp>
        <p:nvSpPr>
          <p:cNvPr id="122" name="Google Shape;122;p16"/>
          <p:cNvSpPr txBox="1"/>
          <p:nvPr/>
        </p:nvSpPr>
        <p:spPr>
          <a:xfrm>
            <a:off x="676275" y="485775"/>
            <a:ext cx="11381400" cy="392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5E0D1B"/>
                </a:solidFill>
                <a:latin typeface="Lora SemiBold"/>
                <a:ea typeface="Lora SemiBold"/>
                <a:cs typeface="Lora SemiBold"/>
                <a:sym typeface="Lora SemiBold"/>
              </a:rPr>
              <a:t>The Demographic Sorting of the Senate</a:t>
            </a:r>
            <a:endParaRPr/>
          </a:p>
        </p:txBody>
      </p:sp>
      <p:sp>
        <p:nvSpPr>
          <p:cNvPr id="123" name="Google Shape;123;p16"/>
          <p:cNvSpPr/>
          <p:nvPr/>
        </p:nvSpPr>
        <p:spPr>
          <a:xfrm>
            <a:off x="676275" y="969615"/>
            <a:ext cx="10839600" cy="9600"/>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17"/>
          <p:cNvSpPr txBox="1"/>
          <p:nvPr/>
        </p:nvSpPr>
        <p:spPr>
          <a:xfrm>
            <a:off x="676275" y="615315"/>
            <a:ext cx="4803300" cy="39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913">
                <a:solidFill>
                  <a:srgbClr val="5E0D1B"/>
                </a:solidFill>
                <a:latin typeface="Lora SemiBold"/>
                <a:ea typeface="Lora SemiBold"/>
                <a:cs typeface="Lora SemiBold"/>
                <a:sym typeface="Lora SemiBold"/>
              </a:rPr>
              <a:t>Senator Religion Data Collection</a:t>
            </a:r>
            <a:endParaRPr b="0" sz="1913">
              <a:solidFill>
                <a:srgbClr val="5E0D1B"/>
              </a:solidFill>
              <a:latin typeface="Lora SemiBold"/>
              <a:ea typeface="Lora SemiBold"/>
              <a:cs typeface="Lora SemiBold"/>
              <a:sym typeface="Lora SemiBold"/>
            </a:endParaRPr>
          </a:p>
        </p:txBody>
      </p:sp>
      <p:cxnSp>
        <p:nvCxnSpPr>
          <p:cNvPr id="129" name="Google Shape;129;p17"/>
          <p:cNvCxnSpPr/>
          <p:nvPr/>
        </p:nvCxnSpPr>
        <p:spPr>
          <a:xfrm>
            <a:off x="676275" y="971550"/>
            <a:ext cx="10839600" cy="0"/>
          </a:xfrm>
          <a:prstGeom prst="straightConnector1">
            <a:avLst/>
          </a:prstGeom>
          <a:solidFill>
            <a:srgbClr val="FFFFFF"/>
          </a:solidFill>
          <a:ln cap="flat" cmpd="sng" w="14300">
            <a:solidFill>
              <a:srgbClr val="E3DCD3"/>
            </a:solidFill>
            <a:prstDash val="solid"/>
            <a:round/>
            <a:headEnd len="sm" w="sm" type="none"/>
            <a:tailEnd len="sm" w="sm" type="none"/>
          </a:ln>
        </p:spPr>
      </p:cxnSp>
      <p:grpSp>
        <p:nvGrpSpPr>
          <p:cNvPr id="130" name="Google Shape;130;p17"/>
          <p:cNvGrpSpPr/>
          <p:nvPr/>
        </p:nvGrpSpPr>
        <p:grpSpPr>
          <a:xfrm>
            <a:off x="676275" y="1285875"/>
            <a:ext cx="4476900" cy="1428900"/>
            <a:chOff x="0" y="0"/>
            <a:chExt cx="4476900" cy="1428900"/>
          </a:xfrm>
        </p:grpSpPr>
        <p:sp>
          <p:nvSpPr>
            <p:cNvPr id="131" name="Google Shape;131;p17"/>
            <p:cNvSpPr/>
            <p:nvPr/>
          </p:nvSpPr>
          <p:spPr>
            <a:xfrm>
              <a:off x="0" y="0"/>
              <a:ext cx="4476900" cy="1428900"/>
            </a:xfrm>
            <a:prstGeom prst="roundRect">
              <a:avLst>
                <a:gd fmla="val 5333" name="adj"/>
              </a:avLst>
            </a:prstGeom>
            <a:solidFill>
              <a:srgbClr val="FCFAF7"/>
            </a:solidFill>
            <a:ln cap="flat" cmpd="sng" w="14300">
              <a:solidFill>
                <a:srgbClr val="E3DCD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32" name="Google Shape;132;p17"/>
            <p:cNvCxnSpPr/>
            <p:nvPr/>
          </p:nvCxnSpPr>
          <p:spPr>
            <a:xfrm>
              <a:off x="0" y="0"/>
              <a:ext cx="4476900" cy="0"/>
            </a:xfrm>
            <a:prstGeom prst="straightConnector1">
              <a:avLst/>
            </a:prstGeom>
            <a:solidFill>
              <a:srgbClr val="FFFFFF"/>
            </a:solidFill>
            <a:ln cap="flat" cmpd="sng" w="38100">
              <a:solidFill>
                <a:srgbClr val="5E0D1B"/>
              </a:solidFill>
              <a:prstDash val="solid"/>
              <a:round/>
              <a:headEnd len="sm" w="sm" type="none"/>
              <a:tailEnd len="sm" w="sm" type="none"/>
            </a:ln>
          </p:spPr>
        </p:cxnSp>
        <p:sp>
          <p:nvSpPr>
            <p:cNvPr id="133" name="Google Shape;133;p17"/>
            <p:cNvSpPr txBox="1"/>
            <p:nvPr/>
          </p:nvSpPr>
          <p:spPr>
            <a:xfrm>
              <a:off x="228600" y="228600"/>
              <a:ext cx="4019700" cy="9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14">
                  <a:solidFill>
                    <a:srgbClr val="BC9548"/>
                  </a:solidFill>
                  <a:latin typeface="Cinzel SemiBold"/>
                  <a:ea typeface="Cinzel SemiBold"/>
                  <a:cs typeface="Cinzel SemiBold"/>
                  <a:sym typeface="Cinzel SemiBold"/>
                </a:rPr>
                <a:t>METHODOLOGY</a:t>
              </a:r>
              <a:endParaRPr b="0" sz="1114">
                <a:solidFill>
                  <a:srgbClr val="BC9548"/>
                </a:solidFill>
                <a:latin typeface="Cinzel SemiBold"/>
                <a:ea typeface="Cinzel SemiBold"/>
                <a:cs typeface="Cinzel SemiBold"/>
                <a:sym typeface="Cinzel SemiBold"/>
              </a:endParaRPr>
            </a:p>
            <a:p>
              <a:pPr indent="0" lvl="0" marL="0" rtl="0" algn="l">
                <a:spcBef>
                  <a:spcPts val="600"/>
                </a:spcBef>
                <a:spcAft>
                  <a:spcPts val="0"/>
                </a:spcAft>
                <a:buNone/>
              </a:pPr>
              <a:r>
                <a:rPr b="1" lang="en-US" sz="1424">
                  <a:solidFill>
                    <a:srgbClr val="5E0D1B"/>
                  </a:solidFill>
                  <a:latin typeface="Plus Jakarta Sans"/>
                  <a:ea typeface="Plus Jakarta Sans"/>
                  <a:cs typeface="Plus Jakarta Sans"/>
                  <a:sym typeface="Plus Jakarta Sans"/>
                </a:rPr>
                <a:t>Archival Research</a:t>
              </a:r>
              <a:endParaRPr b="1" sz="1424">
                <a:solidFill>
                  <a:srgbClr val="5E0D1B"/>
                </a:solidFill>
                <a:latin typeface="Plus Jakarta Sans"/>
                <a:ea typeface="Plus Jakarta Sans"/>
                <a:cs typeface="Plus Jakarta Sans"/>
                <a:sym typeface="Plus Jakarta Sans"/>
              </a:endParaRPr>
            </a:p>
            <a:p>
              <a:pPr indent="0" lvl="0" marL="0" rtl="0" algn="l">
                <a:spcBef>
                  <a:spcPts val="900"/>
                </a:spcBef>
                <a:spcAft>
                  <a:spcPts val="0"/>
                </a:spcAft>
                <a:buNone/>
              </a:pPr>
              <a:r>
                <a:rPr b="0" lang="en-US" sz="1269">
                  <a:solidFill>
                    <a:srgbClr val="2D3136"/>
                  </a:solidFill>
                  <a:latin typeface="Plus Jakarta Sans"/>
                  <a:ea typeface="Plus Jakarta Sans"/>
                  <a:cs typeface="Plus Jakarta Sans"/>
                  <a:sym typeface="Plus Jakarta Sans"/>
                </a:rPr>
                <a:t>We systematically mapped political careers back to historic records, creating a validated profile of religious identity for every serving Senator.</a:t>
              </a:r>
              <a:endParaRPr b="0" sz="1269">
                <a:solidFill>
                  <a:srgbClr val="2D3136"/>
                </a:solidFill>
                <a:latin typeface="Plus Jakarta Sans"/>
                <a:ea typeface="Plus Jakarta Sans"/>
                <a:cs typeface="Plus Jakarta Sans"/>
                <a:sym typeface="Plus Jakarta Sans"/>
              </a:endParaRPr>
            </a:p>
          </p:txBody>
        </p:sp>
      </p:grpSp>
      <p:grpSp>
        <p:nvGrpSpPr>
          <p:cNvPr id="134" name="Google Shape;134;p17"/>
          <p:cNvGrpSpPr/>
          <p:nvPr/>
        </p:nvGrpSpPr>
        <p:grpSpPr>
          <a:xfrm>
            <a:off x="676275" y="3248025"/>
            <a:ext cx="4476900" cy="1848000"/>
            <a:chOff x="0" y="247650"/>
            <a:chExt cx="4476900" cy="1848000"/>
          </a:xfrm>
        </p:grpSpPr>
        <p:sp>
          <p:nvSpPr>
            <p:cNvPr id="135" name="Google Shape;135;p17"/>
            <p:cNvSpPr/>
            <p:nvPr/>
          </p:nvSpPr>
          <p:spPr>
            <a:xfrm>
              <a:off x="0" y="666750"/>
              <a:ext cx="4476900" cy="1428900"/>
            </a:xfrm>
            <a:prstGeom prst="roundRect">
              <a:avLst>
                <a:gd fmla="val 5333" name="adj"/>
              </a:avLst>
            </a:prstGeom>
            <a:solidFill>
              <a:srgbClr val="FCFAF7"/>
            </a:solidFill>
            <a:ln cap="flat" cmpd="sng" w="14300">
              <a:solidFill>
                <a:srgbClr val="E3DCD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36" name="Google Shape;136;p17"/>
            <p:cNvCxnSpPr/>
            <p:nvPr/>
          </p:nvCxnSpPr>
          <p:spPr>
            <a:xfrm>
              <a:off x="0" y="247650"/>
              <a:ext cx="4476900" cy="0"/>
            </a:xfrm>
            <a:prstGeom prst="straightConnector1">
              <a:avLst/>
            </a:prstGeom>
            <a:solidFill>
              <a:srgbClr val="FFFFFF"/>
            </a:solidFill>
            <a:ln cap="flat" cmpd="sng" w="38100">
              <a:solidFill>
                <a:srgbClr val="BC9548"/>
              </a:solidFill>
              <a:prstDash val="solid"/>
              <a:round/>
              <a:headEnd len="sm" w="sm" type="none"/>
              <a:tailEnd len="sm" w="sm" type="none"/>
            </a:ln>
          </p:spPr>
        </p:cxnSp>
        <p:sp>
          <p:nvSpPr>
            <p:cNvPr id="137" name="Google Shape;137;p17"/>
            <p:cNvSpPr txBox="1"/>
            <p:nvPr/>
          </p:nvSpPr>
          <p:spPr>
            <a:xfrm>
              <a:off x="228600" y="781050"/>
              <a:ext cx="4019700" cy="9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14">
                  <a:solidFill>
                    <a:srgbClr val="BC9548"/>
                  </a:solidFill>
                  <a:latin typeface="Cinzel SemiBold"/>
                  <a:ea typeface="Cinzel SemiBold"/>
                  <a:cs typeface="Cinzel SemiBold"/>
                  <a:sym typeface="Cinzel SemiBold"/>
                </a:rPr>
                <a:t>TIME HORIZON</a:t>
              </a:r>
              <a:endParaRPr b="0" sz="1114">
                <a:solidFill>
                  <a:srgbClr val="BC9548"/>
                </a:solidFill>
                <a:latin typeface="Cinzel SemiBold"/>
                <a:ea typeface="Cinzel SemiBold"/>
                <a:cs typeface="Cinzel SemiBold"/>
                <a:sym typeface="Cinzel SemiBold"/>
              </a:endParaRPr>
            </a:p>
            <a:p>
              <a:pPr indent="0" lvl="0" marL="0" rtl="0" algn="l">
                <a:spcBef>
                  <a:spcPts val="600"/>
                </a:spcBef>
                <a:spcAft>
                  <a:spcPts val="0"/>
                </a:spcAft>
                <a:buNone/>
              </a:pPr>
              <a:r>
                <a:rPr b="1" lang="en-US" sz="1424">
                  <a:solidFill>
                    <a:srgbClr val="5E0D1B"/>
                  </a:solidFill>
                  <a:latin typeface="Plus Jakarta Sans"/>
                  <a:ea typeface="Plus Jakarta Sans"/>
                  <a:cs typeface="Plus Jakarta Sans"/>
                  <a:sym typeface="Plus Jakarta Sans"/>
                </a:rPr>
                <a:t>55-Years of Data</a:t>
              </a:r>
              <a:endParaRPr b="1" sz="1424">
                <a:solidFill>
                  <a:srgbClr val="5E0D1B"/>
                </a:solidFill>
                <a:latin typeface="Plus Jakarta Sans"/>
                <a:ea typeface="Plus Jakarta Sans"/>
                <a:cs typeface="Plus Jakarta Sans"/>
                <a:sym typeface="Plus Jakarta Sans"/>
              </a:endParaRPr>
            </a:p>
            <a:p>
              <a:pPr indent="0" lvl="0" marL="0" rtl="0" algn="l">
                <a:spcBef>
                  <a:spcPts val="900"/>
                </a:spcBef>
                <a:spcAft>
                  <a:spcPts val="0"/>
                </a:spcAft>
                <a:buNone/>
              </a:pPr>
              <a:r>
                <a:rPr b="0" lang="en-US" sz="1269">
                  <a:solidFill>
                    <a:srgbClr val="2D3136"/>
                  </a:solidFill>
                  <a:latin typeface="Plus Jakarta Sans"/>
                  <a:ea typeface="Plus Jakarta Sans"/>
                  <a:cs typeface="Plus Jakarta Sans"/>
                  <a:sym typeface="Plus Jakarta Sans"/>
                </a:rPr>
                <a:t>The database spans continuously from 1969 to 2024, capturing structural demographic shifts and realignment trends over five decades.</a:t>
              </a:r>
              <a:endParaRPr b="0" sz="1269">
                <a:solidFill>
                  <a:srgbClr val="2D3136"/>
                </a:solidFill>
                <a:latin typeface="Plus Jakarta Sans"/>
                <a:ea typeface="Plus Jakarta Sans"/>
                <a:cs typeface="Plus Jakarta Sans"/>
                <a:sym typeface="Plus Jakarta Sans"/>
              </a:endParaRPr>
            </a:p>
          </p:txBody>
        </p:sp>
      </p:grpSp>
      <p:sp>
        <p:nvSpPr>
          <p:cNvPr id="138" name="Google Shape;138;p17"/>
          <p:cNvSpPr txBox="1"/>
          <p:nvPr/>
        </p:nvSpPr>
        <p:spPr>
          <a:xfrm>
            <a:off x="5534025" y="1285875"/>
            <a:ext cx="59817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14">
                <a:solidFill>
                  <a:srgbClr val="BC9548"/>
                </a:solidFill>
                <a:latin typeface="Cinzel SemiBold"/>
                <a:ea typeface="Cinzel SemiBold"/>
                <a:cs typeface="Cinzel SemiBold"/>
                <a:sym typeface="Cinzel SemiBold"/>
              </a:rPr>
              <a:t>PRIMARY ANALYTICAL CATEGORIES</a:t>
            </a:r>
            <a:endParaRPr b="0" sz="1114">
              <a:solidFill>
                <a:srgbClr val="BC9548"/>
              </a:solidFill>
              <a:latin typeface="Cinzel SemiBold"/>
              <a:ea typeface="Cinzel SemiBold"/>
              <a:cs typeface="Cinzel SemiBold"/>
              <a:sym typeface="Cinzel SemiBold"/>
            </a:endParaRPr>
          </a:p>
        </p:txBody>
      </p:sp>
      <p:grpSp>
        <p:nvGrpSpPr>
          <p:cNvPr id="139" name="Google Shape;139;p17"/>
          <p:cNvGrpSpPr/>
          <p:nvPr/>
        </p:nvGrpSpPr>
        <p:grpSpPr>
          <a:xfrm>
            <a:off x="5534025" y="1666875"/>
            <a:ext cx="2857500" cy="1381200"/>
            <a:chOff x="0" y="0"/>
            <a:chExt cx="2857500" cy="1381200"/>
          </a:xfrm>
        </p:grpSpPr>
        <p:sp>
          <p:nvSpPr>
            <p:cNvPr id="140" name="Google Shape;140;p17"/>
            <p:cNvSpPr/>
            <p:nvPr/>
          </p:nvSpPr>
          <p:spPr>
            <a:xfrm>
              <a:off x="0" y="0"/>
              <a:ext cx="2857500" cy="1381200"/>
            </a:xfrm>
            <a:prstGeom prst="roundRect">
              <a:avLst>
                <a:gd fmla="val 4137" name="adj"/>
              </a:avLst>
            </a:prstGeom>
            <a:solidFill>
              <a:srgbClr val="FCFAF7"/>
            </a:solidFill>
            <a:ln cap="flat" cmpd="sng" w="14300">
              <a:solidFill>
                <a:srgbClr val="E3DCD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41" name="Google Shape;141;p17"/>
            <p:cNvCxnSpPr/>
            <p:nvPr/>
          </p:nvCxnSpPr>
          <p:spPr>
            <a:xfrm>
              <a:off x="0" y="0"/>
              <a:ext cx="2857500" cy="0"/>
            </a:xfrm>
            <a:prstGeom prst="straightConnector1">
              <a:avLst/>
            </a:prstGeom>
            <a:solidFill>
              <a:srgbClr val="FFFFFF"/>
            </a:solidFill>
            <a:ln cap="flat" cmpd="sng" w="28575">
              <a:solidFill>
                <a:srgbClr val="5E0D1B"/>
              </a:solidFill>
              <a:prstDash val="solid"/>
              <a:round/>
              <a:headEnd len="sm" w="sm" type="none"/>
              <a:tailEnd len="sm" w="sm" type="none"/>
            </a:ln>
          </p:spPr>
        </p:cxnSp>
        <p:sp>
          <p:nvSpPr>
            <p:cNvPr id="142" name="Google Shape;142;p17"/>
            <p:cNvSpPr txBox="1"/>
            <p:nvPr/>
          </p:nvSpPr>
          <p:spPr>
            <a:xfrm>
              <a:off x="190500" y="190500"/>
              <a:ext cx="24765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95">
                  <a:solidFill>
                    <a:srgbClr val="5E0D1B"/>
                  </a:solidFill>
                  <a:latin typeface="Lora SemiBold"/>
                  <a:ea typeface="Lora SemiBold"/>
                  <a:cs typeface="Lora SemiBold"/>
                  <a:sym typeface="Lora SemiBold"/>
                </a:rPr>
                <a:t>Evangelical Protestant</a:t>
              </a:r>
              <a:endParaRPr b="0" sz="1495">
                <a:solidFill>
                  <a:srgbClr val="5E0D1B"/>
                </a:solidFill>
                <a:latin typeface="Lora SemiBold"/>
                <a:ea typeface="Lora SemiBold"/>
                <a:cs typeface="Lora SemiBold"/>
                <a:sym typeface="Lora SemiBold"/>
              </a:endParaRPr>
            </a:p>
            <a:p>
              <a:pPr indent="0" lvl="0" marL="0" rtl="0" algn="l">
                <a:spcBef>
                  <a:spcPts val="450"/>
                </a:spcBef>
                <a:spcAft>
                  <a:spcPts val="0"/>
                </a:spcAft>
                <a:buNone/>
              </a:pPr>
              <a:r>
                <a:rPr b="0" lang="en-US" sz="1264">
                  <a:solidFill>
                    <a:srgbClr val="6B7075"/>
                  </a:solidFill>
                  <a:latin typeface="Plus Jakarta Sans"/>
                  <a:ea typeface="Plus Jakarta Sans"/>
                  <a:cs typeface="Plus Jakarta Sans"/>
                  <a:sym typeface="Plus Jakarta Sans"/>
                </a:rPr>
                <a:t>A primary anchor of the cultural Right, serving as a core ideological block.</a:t>
              </a:r>
              <a:endParaRPr b="0" sz="1264">
                <a:solidFill>
                  <a:srgbClr val="6B7075"/>
                </a:solidFill>
                <a:latin typeface="Plus Jakarta Sans"/>
                <a:ea typeface="Plus Jakarta Sans"/>
                <a:cs typeface="Plus Jakarta Sans"/>
                <a:sym typeface="Plus Jakarta Sans"/>
              </a:endParaRPr>
            </a:p>
          </p:txBody>
        </p:sp>
      </p:grpSp>
      <p:grpSp>
        <p:nvGrpSpPr>
          <p:cNvPr id="143" name="Google Shape;143;p17"/>
          <p:cNvGrpSpPr/>
          <p:nvPr/>
        </p:nvGrpSpPr>
        <p:grpSpPr>
          <a:xfrm>
            <a:off x="8658225" y="1666875"/>
            <a:ext cx="2857500" cy="1381200"/>
            <a:chOff x="0" y="0"/>
            <a:chExt cx="2857500" cy="1381200"/>
          </a:xfrm>
        </p:grpSpPr>
        <p:sp>
          <p:nvSpPr>
            <p:cNvPr id="144" name="Google Shape;144;p17"/>
            <p:cNvSpPr/>
            <p:nvPr/>
          </p:nvSpPr>
          <p:spPr>
            <a:xfrm>
              <a:off x="0" y="0"/>
              <a:ext cx="2857500" cy="1381200"/>
            </a:xfrm>
            <a:prstGeom prst="roundRect">
              <a:avLst>
                <a:gd fmla="val 4137" name="adj"/>
              </a:avLst>
            </a:prstGeom>
            <a:solidFill>
              <a:srgbClr val="FCFAF7"/>
            </a:solidFill>
            <a:ln cap="flat" cmpd="sng" w="14300">
              <a:solidFill>
                <a:srgbClr val="E3DCD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45" name="Google Shape;145;p17"/>
            <p:cNvCxnSpPr/>
            <p:nvPr/>
          </p:nvCxnSpPr>
          <p:spPr>
            <a:xfrm>
              <a:off x="0" y="0"/>
              <a:ext cx="2857500" cy="0"/>
            </a:xfrm>
            <a:prstGeom prst="straightConnector1">
              <a:avLst/>
            </a:prstGeom>
            <a:solidFill>
              <a:srgbClr val="FFFFFF"/>
            </a:solidFill>
            <a:ln cap="flat" cmpd="sng" w="28575">
              <a:solidFill>
                <a:srgbClr val="5E0D1B"/>
              </a:solidFill>
              <a:prstDash val="solid"/>
              <a:round/>
              <a:headEnd len="sm" w="sm" type="none"/>
              <a:tailEnd len="sm" w="sm" type="none"/>
            </a:ln>
          </p:spPr>
        </p:cxnSp>
        <p:sp>
          <p:nvSpPr>
            <p:cNvPr id="146" name="Google Shape;146;p17"/>
            <p:cNvSpPr txBox="1"/>
            <p:nvPr/>
          </p:nvSpPr>
          <p:spPr>
            <a:xfrm>
              <a:off x="190500" y="190500"/>
              <a:ext cx="24765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95">
                  <a:solidFill>
                    <a:srgbClr val="5E0D1B"/>
                  </a:solidFill>
                  <a:latin typeface="Lora SemiBold"/>
                  <a:ea typeface="Lora SemiBold"/>
                  <a:cs typeface="Lora SemiBold"/>
                  <a:sym typeface="Lora SemiBold"/>
                </a:rPr>
                <a:t>Catholic</a:t>
              </a:r>
              <a:endParaRPr b="0" sz="1495">
                <a:solidFill>
                  <a:srgbClr val="5E0D1B"/>
                </a:solidFill>
                <a:latin typeface="Lora SemiBold"/>
                <a:ea typeface="Lora SemiBold"/>
                <a:cs typeface="Lora SemiBold"/>
                <a:sym typeface="Lora SemiBold"/>
              </a:endParaRPr>
            </a:p>
            <a:p>
              <a:pPr indent="0" lvl="0" marL="0" rtl="0" algn="l">
                <a:spcBef>
                  <a:spcPts val="450"/>
                </a:spcBef>
                <a:spcAft>
                  <a:spcPts val="0"/>
                </a:spcAft>
                <a:buNone/>
              </a:pPr>
              <a:r>
                <a:rPr b="0" lang="en-US" sz="1264">
                  <a:solidFill>
                    <a:srgbClr val="6B7075"/>
                  </a:solidFill>
                  <a:latin typeface="Plus Jakarta Sans"/>
                  <a:ea typeface="Plus Jakarta Sans"/>
                  <a:cs typeface="Plus Jakarta Sans"/>
                  <a:sym typeface="Plus Jakarta Sans"/>
                </a:rPr>
                <a:t>Historically complex cohort characterized by high partisan capture and split.</a:t>
              </a:r>
              <a:endParaRPr b="0" sz="1264">
                <a:solidFill>
                  <a:srgbClr val="6B7075"/>
                </a:solidFill>
                <a:latin typeface="Plus Jakarta Sans"/>
                <a:ea typeface="Plus Jakarta Sans"/>
                <a:cs typeface="Plus Jakarta Sans"/>
                <a:sym typeface="Plus Jakarta Sans"/>
              </a:endParaRPr>
            </a:p>
          </p:txBody>
        </p:sp>
      </p:grpSp>
      <p:grpSp>
        <p:nvGrpSpPr>
          <p:cNvPr id="147" name="Google Shape;147;p17"/>
          <p:cNvGrpSpPr/>
          <p:nvPr/>
        </p:nvGrpSpPr>
        <p:grpSpPr>
          <a:xfrm>
            <a:off x="5534025" y="3333750"/>
            <a:ext cx="2857500" cy="1381200"/>
            <a:chOff x="0" y="0"/>
            <a:chExt cx="2857500" cy="1381200"/>
          </a:xfrm>
        </p:grpSpPr>
        <p:sp>
          <p:nvSpPr>
            <p:cNvPr id="148" name="Google Shape;148;p17"/>
            <p:cNvSpPr/>
            <p:nvPr/>
          </p:nvSpPr>
          <p:spPr>
            <a:xfrm>
              <a:off x="0" y="0"/>
              <a:ext cx="2857500" cy="1381200"/>
            </a:xfrm>
            <a:prstGeom prst="roundRect">
              <a:avLst>
                <a:gd fmla="val 4137" name="adj"/>
              </a:avLst>
            </a:prstGeom>
            <a:solidFill>
              <a:srgbClr val="FCFAF7"/>
            </a:solidFill>
            <a:ln cap="flat" cmpd="sng" w="14300">
              <a:solidFill>
                <a:srgbClr val="E3DCD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49" name="Google Shape;149;p17"/>
            <p:cNvCxnSpPr/>
            <p:nvPr/>
          </p:nvCxnSpPr>
          <p:spPr>
            <a:xfrm>
              <a:off x="0" y="0"/>
              <a:ext cx="2857500" cy="0"/>
            </a:xfrm>
            <a:prstGeom prst="straightConnector1">
              <a:avLst/>
            </a:prstGeom>
            <a:solidFill>
              <a:srgbClr val="FFFFFF"/>
            </a:solidFill>
            <a:ln cap="flat" cmpd="sng" w="28575">
              <a:solidFill>
                <a:srgbClr val="5E0D1B"/>
              </a:solidFill>
              <a:prstDash val="solid"/>
              <a:round/>
              <a:headEnd len="sm" w="sm" type="none"/>
              <a:tailEnd len="sm" w="sm" type="none"/>
            </a:ln>
          </p:spPr>
        </p:cxnSp>
        <p:sp>
          <p:nvSpPr>
            <p:cNvPr id="150" name="Google Shape;150;p17"/>
            <p:cNvSpPr txBox="1"/>
            <p:nvPr/>
          </p:nvSpPr>
          <p:spPr>
            <a:xfrm>
              <a:off x="190500" y="190500"/>
              <a:ext cx="24765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95">
                  <a:solidFill>
                    <a:srgbClr val="5E0D1B"/>
                  </a:solidFill>
                  <a:latin typeface="Lora SemiBold"/>
                  <a:ea typeface="Lora SemiBold"/>
                  <a:cs typeface="Lora SemiBold"/>
                  <a:sym typeface="Lora SemiBold"/>
                </a:rPr>
                <a:t>Mainline Protestant</a:t>
              </a:r>
              <a:endParaRPr b="0" sz="1495">
                <a:solidFill>
                  <a:srgbClr val="5E0D1B"/>
                </a:solidFill>
                <a:latin typeface="Lora SemiBold"/>
                <a:ea typeface="Lora SemiBold"/>
                <a:cs typeface="Lora SemiBold"/>
                <a:sym typeface="Lora SemiBold"/>
              </a:endParaRPr>
            </a:p>
            <a:p>
              <a:pPr indent="0" lvl="0" marL="0" rtl="0" algn="l">
                <a:spcBef>
                  <a:spcPts val="450"/>
                </a:spcBef>
                <a:spcAft>
                  <a:spcPts val="0"/>
                </a:spcAft>
                <a:buNone/>
              </a:pPr>
              <a:r>
                <a:rPr b="0" lang="en-US" sz="1264">
                  <a:solidFill>
                    <a:srgbClr val="6B7075"/>
                  </a:solidFill>
                  <a:latin typeface="Plus Jakarta Sans"/>
                  <a:ea typeface="Plus Jakarta Sans"/>
                  <a:cs typeface="Plus Jakarta Sans"/>
                  <a:sym typeface="Plus Jakarta Sans"/>
                </a:rPr>
                <a:t>The traditional historical baseline of the Senate institutional chamber.</a:t>
              </a:r>
              <a:endParaRPr b="0" sz="1264">
                <a:solidFill>
                  <a:srgbClr val="6B7075"/>
                </a:solidFill>
                <a:latin typeface="Plus Jakarta Sans"/>
                <a:ea typeface="Plus Jakarta Sans"/>
                <a:cs typeface="Plus Jakarta Sans"/>
                <a:sym typeface="Plus Jakarta Sans"/>
              </a:endParaRPr>
            </a:p>
          </p:txBody>
        </p:sp>
      </p:grpSp>
      <p:grpSp>
        <p:nvGrpSpPr>
          <p:cNvPr id="151" name="Google Shape;151;p17"/>
          <p:cNvGrpSpPr/>
          <p:nvPr/>
        </p:nvGrpSpPr>
        <p:grpSpPr>
          <a:xfrm>
            <a:off x="8658225" y="3333750"/>
            <a:ext cx="2857500" cy="1381200"/>
            <a:chOff x="0" y="0"/>
            <a:chExt cx="2857500" cy="1381200"/>
          </a:xfrm>
        </p:grpSpPr>
        <p:sp>
          <p:nvSpPr>
            <p:cNvPr id="152" name="Google Shape;152;p17"/>
            <p:cNvSpPr/>
            <p:nvPr/>
          </p:nvSpPr>
          <p:spPr>
            <a:xfrm>
              <a:off x="0" y="0"/>
              <a:ext cx="2857500" cy="1381200"/>
            </a:xfrm>
            <a:prstGeom prst="roundRect">
              <a:avLst>
                <a:gd fmla="val 4137" name="adj"/>
              </a:avLst>
            </a:prstGeom>
            <a:solidFill>
              <a:srgbClr val="FCFAF7"/>
            </a:solidFill>
            <a:ln cap="flat" cmpd="sng" w="14300">
              <a:solidFill>
                <a:srgbClr val="E3DCD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53" name="Google Shape;153;p17"/>
            <p:cNvCxnSpPr/>
            <p:nvPr/>
          </p:nvCxnSpPr>
          <p:spPr>
            <a:xfrm>
              <a:off x="0" y="0"/>
              <a:ext cx="2857500" cy="0"/>
            </a:xfrm>
            <a:prstGeom prst="straightConnector1">
              <a:avLst/>
            </a:prstGeom>
            <a:solidFill>
              <a:srgbClr val="FFFFFF"/>
            </a:solidFill>
            <a:ln cap="flat" cmpd="sng" w="28575">
              <a:solidFill>
                <a:srgbClr val="5E0D1B"/>
              </a:solidFill>
              <a:prstDash val="solid"/>
              <a:round/>
              <a:headEnd len="sm" w="sm" type="none"/>
              <a:tailEnd len="sm" w="sm" type="none"/>
            </a:ln>
          </p:spPr>
        </p:cxnSp>
        <p:sp>
          <p:nvSpPr>
            <p:cNvPr id="154" name="Google Shape;154;p17"/>
            <p:cNvSpPr txBox="1"/>
            <p:nvPr/>
          </p:nvSpPr>
          <p:spPr>
            <a:xfrm>
              <a:off x="190500" y="190500"/>
              <a:ext cx="24765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295">
                  <a:solidFill>
                    <a:srgbClr val="5E0D1B"/>
                  </a:solidFill>
                  <a:latin typeface="Lora SemiBold"/>
                  <a:ea typeface="Lora SemiBold"/>
                  <a:cs typeface="Lora SemiBold"/>
                  <a:sym typeface="Lora SemiBold"/>
                </a:rPr>
                <a:t>J</a:t>
              </a:r>
              <a:r>
                <a:rPr b="0" lang="en-US" sz="1495">
                  <a:solidFill>
                    <a:srgbClr val="5E0D1B"/>
                  </a:solidFill>
                  <a:latin typeface="Lora SemiBold"/>
                  <a:ea typeface="Lora SemiBold"/>
                  <a:cs typeface="Lora SemiBold"/>
                  <a:sym typeface="Lora SemiBold"/>
                </a:rPr>
                <a:t>ewish</a:t>
              </a:r>
              <a:endParaRPr b="0" sz="1495">
                <a:solidFill>
                  <a:srgbClr val="5E0D1B"/>
                </a:solidFill>
                <a:latin typeface="Lora SemiBold"/>
                <a:ea typeface="Lora SemiBold"/>
                <a:cs typeface="Lora SemiBold"/>
                <a:sym typeface="Lora SemiBold"/>
              </a:endParaRPr>
            </a:p>
            <a:p>
              <a:pPr indent="0" lvl="0" marL="0" rtl="0" algn="l">
                <a:spcBef>
                  <a:spcPts val="450"/>
                </a:spcBef>
                <a:spcAft>
                  <a:spcPts val="0"/>
                </a:spcAft>
                <a:buNone/>
              </a:pPr>
              <a:r>
                <a:rPr b="0" lang="en-US" sz="1264">
                  <a:solidFill>
                    <a:srgbClr val="6B7075"/>
                  </a:solidFill>
                  <a:latin typeface="Plus Jakarta Sans"/>
                  <a:ea typeface="Plus Jakarta Sans"/>
                  <a:cs typeface="Plus Jakarta Sans"/>
                  <a:sym typeface="Plus Jakarta Sans"/>
                </a:rPr>
                <a:t>Strongly aligned with progressive advocacy and the modern cultural Left.</a:t>
              </a:r>
              <a:endParaRPr b="0" sz="1264">
                <a:solidFill>
                  <a:srgbClr val="6B7075"/>
                </a:solidFill>
                <a:latin typeface="Plus Jakarta Sans"/>
                <a:ea typeface="Plus Jakarta Sans"/>
                <a:cs typeface="Plus Jakarta Sans"/>
                <a:sym typeface="Plus Jakarta Sans"/>
              </a:endParaRPr>
            </a:p>
          </p:txBody>
        </p:sp>
      </p:grpSp>
      <p:grpSp>
        <p:nvGrpSpPr>
          <p:cNvPr id="155" name="Google Shape;155;p17"/>
          <p:cNvGrpSpPr/>
          <p:nvPr/>
        </p:nvGrpSpPr>
        <p:grpSpPr>
          <a:xfrm>
            <a:off x="5534025" y="5000625"/>
            <a:ext cx="2857500" cy="1143000"/>
            <a:chOff x="0" y="0"/>
            <a:chExt cx="2857500" cy="1143000"/>
          </a:xfrm>
        </p:grpSpPr>
        <p:sp>
          <p:nvSpPr>
            <p:cNvPr id="156" name="Google Shape;156;p17"/>
            <p:cNvSpPr/>
            <p:nvPr/>
          </p:nvSpPr>
          <p:spPr>
            <a:xfrm>
              <a:off x="0" y="0"/>
              <a:ext cx="2857500" cy="1143000"/>
            </a:xfrm>
            <a:prstGeom prst="roundRect">
              <a:avLst>
                <a:gd fmla="val 5000" name="adj"/>
              </a:avLst>
            </a:prstGeom>
            <a:solidFill>
              <a:srgbClr val="FCFAF7"/>
            </a:solidFill>
            <a:ln cap="flat" cmpd="sng" w="14300">
              <a:solidFill>
                <a:srgbClr val="E3DCD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57" name="Google Shape;157;p17"/>
            <p:cNvCxnSpPr/>
            <p:nvPr/>
          </p:nvCxnSpPr>
          <p:spPr>
            <a:xfrm>
              <a:off x="0" y="0"/>
              <a:ext cx="2857500" cy="0"/>
            </a:xfrm>
            <a:prstGeom prst="straightConnector1">
              <a:avLst/>
            </a:prstGeom>
            <a:solidFill>
              <a:srgbClr val="FFFFFF"/>
            </a:solidFill>
            <a:ln cap="flat" cmpd="sng" w="28575">
              <a:solidFill>
                <a:srgbClr val="E3DCD3"/>
              </a:solidFill>
              <a:prstDash val="solid"/>
              <a:round/>
              <a:headEnd len="sm" w="sm" type="none"/>
              <a:tailEnd len="sm" w="sm" type="none"/>
            </a:ln>
          </p:spPr>
        </p:cxnSp>
        <p:sp>
          <p:nvSpPr>
            <p:cNvPr id="158" name="Google Shape;158;p17"/>
            <p:cNvSpPr txBox="1"/>
            <p:nvPr/>
          </p:nvSpPr>
          <p:spPr>
            <a:xfrm>
              <a:off x="190500" y="190500"/>
              <a:ext cx="2476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95">
                  <a:solidFill>
                    <a:srgbClr val="5E0D1B"/>
                  </a:solidFill>
                  <a:latin typeface="Lora SemiBold"/>
                  <a:ea typeface="Lora SemiBold"/>
                  <a:cs typeface="Lora SemiBold"/>
                  <a:sym typeface="Lora SemiBold"/>
                </a:rPr>
                <a:t>LDS (Mormon)</a:t>
              </a:r>
              <a:endParaRPr b="0" sz="1495">
                <a:solidFill>
                  <a:srgbClr val="5E0D1B"/>
                </a:solidFill>
                <a:latin typeface="Lora SemiBold"/>
                <a:ea typeface="Lora SemiBold"/>
                <a:cs typeface="Lora SemiBold"/>
                <a:sym typeface="Lora SemiBold"/>
              </a:endParaRPr>
            </a:p>
            <a:p>
              <a:pPr indent="0" lvl="0" marL="0" rtl="0" algn="l">
                <a:spcBef>
                  <a:spcPts val="450"/>
                </a:spcBef>
                <a:spcAft>
                  <a:spcPts val="0"/>
                </a:spcAft>
                <a:buNone/>
              </a:pPr>
              <a:r>
                <a:rPr b="0" lang="en-US" sz="1264">
                  <a:solidFill>
                    <a:srgbClr val="6B7075"/>
                  </a:solidFill>
                  <a:latin typeface="Plus Jakarta Sans"/>
                  <a:ea typeface="Plus Jakarta Sans"/>
                  <a:cs typeface="Plus Jakarta Sans"/>
                  <a:sym typeface="Plus Jakarta Sans"/>
                </a:rPr>
                <a:t>Cohesive conservative voting patterns shaped by state demographics.</a:t>
              </a:r>
              <a:endParaRPr b="0" sz="1264">
                <a:solidFill>
                  <a:srgbClr val="6B7075"/>
                </a:solidFill>
                <a:latin typeface="Plus Jakarta Sans"/>
                <a:ea typeface="Plus Jakarta Sans"/>
                <a:cs typeface="Plus Jakarta Sans"/>
                <a:sym typeface="Plus Jakarta Sans"/>
              </a:endParaRPr>
            </a:p>
          </p:txBody>
        </p:sp>
      </p:grpSp>
      <p:grpSp>
        <p:nvGrpSpPr>
          <p:cNvPr id="159" name="Google Shape;159;p17"/>
          <p:cNvGrpSpPr/>
          <p:nvPr/>
        </p:nvGrpSpPr>
        <p:grpSpPr>
          <a:xfrm>
            <a:off x="8658225" y="5000625"/>
            <a:ext cx="2857500" cy="1143000"/>
            <a:chOff x="0" y="0"/>
            <a:chExt cx="2857500" cy="1143000"/>
          </a:xfrm>
        </p:grpSpPr>
        <p:sp>
          <p:nvSpPr>
            <p:cNvPr id="160" name="Google Shape;160;p17"/>
            <p:cNvSpPr/>
            <p:nvPr/>
          </p:nvSpPr>
          <p:spPr>
            <a:xfrm>
              <a:off x="0" y="0"/>
              <a:ext cx="2857500" cy="1143000"/>
            </a:xfrm>
            <a:prstGeom prst="roundRect">
              <a:avLst>
                <a:gd fmla="val 5000" name="adj"/>
              </a:avLst>
            </a:prstGeom>
            <a:solidFill>
              <a:srgbClr val="FCFAF7"/>
            </a:solidFill>
            <a:ln cap="flat" cmpd="sng" w="14300">
              <a:solidFill>
                <a:srgbClr val="E3DCD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61" name="Google Shape;161;p17"/>
            <p:cNvCxnSpPr/>
            <p:nvPr/>
          </p:nvCxnSpPr>
          <p:spPr>
            <a:xfrm>
              <a:off x="0" y="0"/>
              <a:ext cx="2857500" cy="0"/>
            </a:xfrm>
            <a:prstGeom prst="straightConnector1">
              <a:avLst/>
            </a:prstGeom>
            <a:solidFill>
              <a:srgbClr val="FFFFFF"/>
            </a:solidFill>
            <a:ln cap="flat" cmpd="sng" w="28575">
              <a:solidFill>
                <a:srgbClr val="E3DCD3"/>
              </a:solidFill>
              <a:prstDash val="solid"/>
              <a:round/>
              <a:headEnd len="sm" w="sm" type="none"/>
              <a:tailEnd len="sm" w="sm" type="none"/>
            </a:ln>
          </p:spPr>
        </p:cxnSp>
        <p:sp>
          <p:nvSpPr>
            <p:cNvPr id="162" name="Google Shape;162;p17"/>
            <p:cNvSpPr txBox="1"/>
            <p:nvPr/>
          </p:nvSpPr>
          <p:spPr>
            <a:xfrm>
              <a:off x="190500" y="190500"/>
              <a:ext cx="2476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95">
                  <a:solidFill>
                    <a:srgbClr val="5E0D1B"/>
                  </a:solidFill>
                  <a:latin typeface="Lora SemiBold"/>
                  <a:ea typeface="Lora SemiBold"/>
                  <a:cs typeface="Lora SemiBold"/>
                  <a:sym typeface="Lora SemiBold"/>
                </a:rPr>
                <a:t>Other / Secular</a:t>
              </a:r>
              <a:endParaRPr b="0" sz="1495">
                <a:solidFill>
                  <a:srgbClr val="5E0D1B"/>
                </a:solidFill>
                <a:latin typeface="Lora SemiBold"/>
                <a:ea typeface="Lora SemiBold"/>
                <a:cs typeface="Lora SemiBold"/>
                <a:sym typeface="Lora SemiBold"/>
              </a:endParaRPr>
            </a:p>
            <a:p>
              <a:pPr indent="0" lvl="0" marL="0" rtl="0" algn="l">
                <a:spcBef>
                  <a:spcPts val="450"/>
                </a:spcBef>
                <a:spcAft>
                  <a:spcPts val="0"/>
                </a:spcAft>
                <a:buNone/>
              </a:pPr>
              <a:r>
                <a:rPr b="0" lang="en-US" sz="1264">
                  <a:solidFill>
                    <a:srgbClr val="6B7075"/>
                  </a:solidFill>
                  <a:latin typeface="Plus Jakarta Sans"/>
                  <a:ea typeface="Plus Jakarta Sans"/>
                  <a:cs typeface="Plus Jakarta Sans"/>
                  <a:sym typeface="Plus Jakarta Sans"/>
                </a:rPr>
                <a:t>Non-traditional religious affiliations and unaffiliated senators.</a:t>
              </a:r>
              <a:endParaRPr b="0" sz="1264">
                <a:solidFill>
                  <a:srgbClr val="6B7075"/>
                </a:solidFill>
                <a:latin typeface="Plus Jakarta Sans"/>
                <a:ea typeface="Plus Jakarta Sans"/>
                <a:cs typeface="Plus Jakarta Sans"/>
                <a:sym typeface="Plus Jakarta Sans"/>
              </a:endParaRPr>
            </a:p>
          </p:txBody>
        </p:sp>
      </p:grpSp>
      <p:sp>
        <p:nvSpPr>
          <p:cNvPr id="163" name="Google Shape;163;p17"/>
          <p:cNvSpPr txBox="1"/>
          <p:nvPr/>
        </p:nvSpPr>
        <p:spPr>
          <a:xfrm>
            <a:off x="7286000" y="2188200"/>
            <a:ext cx="4925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167" name="Shape 167"/>
        <p:cNvGrpSpPr/>
        <p:nvPr/>
      </p:nvGrpSpPr>
      <p:grpSpPr>
        <a:xfrm>
          <a:off x="0" y="0"/>
          <a:ext cx="0" cy="0"/>
          <a:chOff x="0" y="0"/>
          <a:chExt cx="0" cy="0"/>
        </a:xfrm>
      </p:grpSpPr>
      <p:pic>
        <p:nvPicPr>
          <p:cNvPr descr="image.png" id="168" name="Google Shape;168;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9" name="Google Shape;169;p18"/>
          <p:cNvSpPr txBox="1"/>
          <p:nvPr/>
        </p:nvSpPr>
        <p:spPr>
          <a:xfrm>
            <a:off x="676275" y="485775"/>
            <a:ext cx="11381400" cy="863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550">
                <a:solidFill>
                  <a:srgbClr val="5E0D1B"/>
                </a:solidFill>
                <a:latin typeface="Lora SemiBold"/>
                <a:ea typeface="Lora SemiBold"/>
                <a:cs typeface="Lora SemiBold"/>
                <a:sym typeface="Lora SemiBold"/>
              </a:rPr>
              <a:t>As of 2020, Most religious groups were over-representated in the US Senate.</a:t>
            </a:r>
            <a:endParaRPr/>
          </a:p>
        </p:txBody>
      </p:sp>
      <p:sp>
        <p:nvSpPr>
          <p:cNvPr id="170" name="Google Shape;170;p18"/>
          <p:cNvSpPr/>
          <p:nvPr/>
        </p:nvSpPr>
        <p:spPr>
          <a:xfrm>
            <a:off x="676275" y="969615"/>
            <a:ext cx="10839600" cy="9600"/>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71" name="Google Shape;171;p18"/>
          <p:cNvPicPr preferRelativeResize="0"/>
          <p:nvPr/>
        </p:nvPicPr>
        <p:blipFill>
          <a:blip r:embed="rId4">
            <a:alphaModFix/>
          </a:blip>
          <a:stretch>
            <a:fillRect/>
          </a:stretch>
        </p:blipFill>
        <p:spPr>
          <a:xfrm>
            <a:off x="1795253" y="1345900"/>
            <a:ext cx="9051326" cy="5440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175" name="Shape 175"/>
        <p:cNvGrpSpPr/>
        <p:nvPr/>
      </p:nvGrpSpPr>
      <p:grpSpPr>
        <a:xfrm>
          <a:off x="0" y="0"/>
          <a:ext cx="0" cy="0"/>
          <a:chOff x="0" y="0"/>
          <a:chExt cx="0" cy="0"/>
        </a:xfrm>
      </p:grpSpPr>
      <p:pic>
        <p:nvPicPr>
          <p:cNvPr descr="image.png" id="176" name="Google Shape;176;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7" name="Google Shape;177;p19"/>
          <p:cNvSpPr txBox="1"/>
          <p:nvPr/>
        </p:nvSpPr>
        <p:spPr>
          <a:xfrm>
            <a:off x="676275" y="485775"/>
            <a:ext cx="11381400" cy="133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Font typeface="Arial"/>
              <a:buNone/>
            </a:pPr>
            <a:r>
              <a:rPr lang="en-US" sz="2550">
                <a:solidFill>
                  <a:srgbClr val="5E0D1B"/>
                </a:solidFill>
                <a:latin typeface="Lora SemiBold"/>
                <a:ea typeface="Lora SemiBold"/>
                <a:cs typeface="Lora SemiBold"/>
                <a:sym typeface="Lora SemiBold"/>
              </a:rPr>
              <a:t>But that has changed overtime: Mainline Protestants used to be the overwhelming majority in the Senate, today they make up barely a plurality.</a:t>
            </a:r>
            <a:endParaRPr/>
          </a:p>
        </p:txBody>
      </p:sp>
      <p:sp>
        <p:nvSpPr>
          <p:cNvPr id="178" name="Google Shape;178;p19"/>
          <p:cNvSpPr/>
          <p:nvPr/>
        </p:nvSpPr>
        <p:spPr>
          <a:xfrm>
            <a:off x="676275" y="969615"/>
            <a:ext cx="10839600" cy="9600"/>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79" name="Google Shape;179;p19"/>
          <p:cNvPicPr preferRelativeResize="0"/>
          <p:nvPr/>
        </p:nvPicPr>
        <p:blipFill>
          <a:blip r:embed="rId4">
            <a:alphaModFix/>
          </a:blip>
          <a:stretch>
            <a:fillRect/>
          </a:stretch>
        </p:blipFill>
        <p:spPr>
          <a:xfrm>
            <a:off x="1702950" y="1820175"/>
            <a:ext cx="9582649" cy="5102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183" name="Shape 183"/>
        <p:cNvGrpSpPr/>
        <p:nvPr/>
      </p:nvGrpSpPr>
      <p:grpSpPr>
        <a:xfrm>
          <a:off x="0" y="0"/>
          <a:ext cx="0" cy="0"/>
          <a:chOff x="0" y="0"/>
          <a:chExt cx="0" cy="0"/>
        </a:xfrm>
      </p:grpSpPr>
      <p:pic>
        <p:nvPicPr>
          <p:cNvPr descr="image.png" id="184" name="Google Shape;184;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5" name="Google Shape;185;p20"/>
          <p:cNvSpPr txBox="1"/>
          <p:nvPr/>
        </p:nvSpPr>
        <p:spPr>
          <a:xfrm>
            <a:off x="676275" y="485775"/>
            <a:ext cx="11381400" cy="392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550">
                <a:solidFill>
                  <a:srgbClr val="5E0D1B"/>
                </a:solidFill>
                <a:latin typeface="Lora SemiBold"/>
                <a:ea typeface="Lora SemiBold"/>
                <a:cs typeface="Lora SemiBold"/>
                <a:sym typeface="Lora SemiBold"/>
              </a:rPr>
              <a:t>But the religious groups have realigned and “sorted” the past 55 years.</a:t>
            </a:r>
            <a:endParaRPr/>
          </a:p>
        </p:txBody>
      </p:sp>
      <p:sp>
        <p:nvSpPr>
          <p:cNvPr id="186" name="Google Shape;186;p20"/>
          <p:cNvSpPr/>
          <p:nvPr/>
        </p:nvSpPr>
        <p:spPr>
          <a:xfrm>
            <a:off x="676275" y="969615"/>
            <a:ext cx="10839600" cy="9600"/>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87" name="Google Shape;187;p20"/>
          <p:cNvPicPr preferRelativeResize="0"/>
          <p:nvPr/>
        </p:nvPicPr>
        <p:blipFill>
          <a:blip r:embed="rId4">
            <a:alphaModFix/>
          </a:blip>
          <a:stretch>
            <a:fillRect/>
          </a:stretch>
        </p:blipFill>
        <p:spPr>
          <a:xfrm>
            <a:off x="1605325" y="1145675"/>
            <a:ext cx="9724001" cy="54501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191" name="Shape 191"/>
        <p:cNvGrpSpPr/>
        <p:nvPr/>
      </p:nvGrpSpPr>
      <p:grpSpPr>
        <a:xfrm>
          <a:off x="0" y="0"/>
          <a:ext cx="0" cy="0"/>
          <a:chOff x="0" y="0"/>
          <a:chExt cx="0" cy="0"/>
        </a:xfrm>
      </p:grpSpPr>
      <p:pic>
        <p:nvPicPr>
          <p:cNvPr descr="image.png" id="192" name="Google Shape;192;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3" name="Google Shape;193;p21"/>
          <p:cNvPicPr preferRelativeResize="0"/>
          <p:nvPr/>
        </p:nvPicPr>
        <p:blipFill rotWithShape="1">
          <a:blip r:embed="rId4">
            <a:alphaModFix/>
          </a:blip>
          <a:srcRect b="0" l="0" r="0" t="0"/>
          <a:stretch/>
        </p:blipFill>
        <p:spPr>
          <a:xfrm>
            <a:off x="676275" y="1446521"/>
            <a:ext cx="3486150" cy="3505425"/>
          </a:xfrm>
          <a:prstGeom prst="rect">
            <a:avLst/>
          </a:prstGeom>
          <a:noFill/>
          <a:ln>
            <a:noFill/>
          </a:ln>
        </p:spPr>
      </p:pic>
      <p:pic>
        <p:nvPicPr>
          <p:cNvPr descr="image.png" id="194" name="Google Shape;194;p21"/>
          <p:cNvPicPr preferRelativeResize="0"/>
          <p:nvPr/>
        </p:nvPicPr>
        <p:blipFill rotWithShape="1">
          <a:blip r:embed="rId5">
            <a:alphaModFix/>
          </a:blip>
          <a:srcRect b="0" l="0" r="0" t="0"/>
          <a:stretch/>
        </p:blipFill>
        <p:spPr>
          <a:xfrm>
            <a:off x="4352925" y="1446521"/>
            <a:ext cx="3486150" cy="3505425"/>
          </a:xfrm>
          <a:prstGeom prst="rect">
            <a:avLst/>
          </a:prstGeom>
          <a:noFill/>
          <a:ln>
            <a:noFill/>
          </a:ln>
        </p:spPr>
      </p:pic>
      <p:pic>
        <p:nvPicPr>
          <p:cNvPr descr="image.png" id="195" name="Google Shape;195;p21"/>
          <p:cNvPicPr preferRelativeResize="0"/>
          <p:nvPr/>
        </p:nvPicPr>
        <p:blipFill rotWithShape="1">
          <a:blip r:embed="rId6">
            <a:alphaModFix/>
          </a:blip>
          <a:srcRect b="0" l="0" r="0" t="0"/>
          <a:stretch/>
        </p:blipFill>
        <p:spPr>
          <a:xfrm>
            <a:off x="8029575" y="1446521"/>
            <a:ext cx="3486150" cy="3505425"/>
          </a:xfrm>
          <a:prstGeom prst="rect">
            <a:avLst/>
          </a:prstGeom>
          <a:noFill/>
          <a:ln>
            <a:noFill/>
          </a:ln>
        </p:spPr>
      </p:pic>
      <p:sp>
        <p:nvSpPr>
          <p:cNvPr id="196" name="Google Shape;196;p21"/>
          <p:cNvSpPr txBox="1"/>
          <p:nvPr/>
        </p:nvSpPr>
        <p:spPr>
          <a:xfrm>
            <a:off x="885825" y="2113508"/>
            <a:ext cx="3220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5E0D1B"/>
                </a:solidFill>
                <a:latin typeface="Lora SemiBold"/>
                <a:ea typeface="Lora SemiBold"/>
                <a:cs typeface="Lora SemiBold"/>
                <a:sym typeface="Lora SemiBold"/>
              </a:rPr>
              <a:t>Beyond Symbolism</a:t>
            </a:r>
            <a:endParaRPr/>
          </a:p>
        </p:txBody>
      </p:sp>
      <p:sp>
        <p:nvSpPr>
          <p:cNvPr id="197" name="Google Shape;197;p21"/>
          <p:cNvSpPr txBox="1"/>
          <p:nvPr/>
        </p:nvSpPr>
        <p:spPr>
          <a:xfrm>
            <a:off x="885825" y="2608808"/>
            <a:ext cx="3067200" cy="185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25" u="none" cap="none" strike="noStrike">
                <a:solidFill>
                  <a:srgbClr val="2D3136"/>
                </a:solidFill>
                <a:latin typeface="Plus Jakarta Sans"/>
                <a:ea typeface="Plus Jakarta Sans"/>
                <a:cs typeface="Plus Jakarta Sans"/>
                <a:sym typeface="Plus Jakarta Sans"/>
              </a:rPr>
              <a:t>While bill sponsorship is a voluntary signal of intensity, roll calls force every legislator to stand on the record under direct, public pressure.</a:t>
            </a:r>
            <a:endParaRPr sz="1900"/>
          </a:p>
        </p:txBody>
      </p:sp>
      <p:sp>
        <p:nvSpPr>
          <p:cNvPr id="198" name="Google Shape;198;p21"/>
          <p:cNvSpPr txBox="1"/>
          <p:nvPr/>
        </p:nvSpPr>
        <p:spPr>
          <a:xfrm>
            <a:off x="4562475" y="2113508"/>
            <a:ext cx="3220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5E0D1B"/>
                </a:solidFill>
                <a:latin typeface="Lora SemiBold"/>
                <a:ea typeface="Lora SemiBold"/>
                <a:cs typeface="Lora SemiBold"/>
                <a:sym typeface="Lora SemiBold"/>
              </a:rPr>
              <a:t>Ultimate Priorities</a:t>
            </a:r>
            <a:endParaRPr/>
          </a:p>
        </p:txBody>
      </p:sp>
      <p:sp>
        <p:nvSpPr>
          <p:cNvPr id="199" name="Google Shape;199;p21"/>
          <p:cNvSpPr txBox="1"/>
          <p:nvPr/>
        </p:nvSpPr>
        <p:spPr>
          <a:xfrm>
            <a:off x="4562475" y="2608808"/>
            <a:ext cx="3067200" cy="185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25" u="none" cap="none" strike="noStrike">
                <a:solidFill>
                  <a:srgbClr val="2D3136"/>
                </a:solidFill>
                <a:latin typeface="Plus Jakarta Sans"/>
                <a:ea typeface="Plus Jakarta Sans"/>
                <a:cs typeface="Plus Jakarta Sans"/>
                <a:sym typeface="Plus Jakarta Sans"/>
              </a:rPr>
              <a:t>What a government funds and puts its votes behind remains the ultimate structural expression of its actual values and political commitments.</a:t>
            </a:r>
            <a:endParaRPr sz="1900"/>
          </a:p>
        </p:txBody>
      </p:sp>
      <p:sp>
        <p:nvSpPr>
          <p:cNvPr id="200" name="Google Shape;200;p21"/>
          <p:cNvSpPr txBox="1"/>
          <p:nvPr/>
        </p:nvSpPr>
        <p:spPr>
          <a:xfrm>
            <a:off x="8239125" y="2113508"/>
            <a:ext cx="3220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5E0D1B"/>
                </a:solidFill>
                <a:latin typeface="Lora SemiBold"/>
                <a:ea typeface="Lora SemiBold"/>
                <a:cs typeface="Lora SemiBold"/>
                <a:sym typeface="Lora SemiBold"/>
              </a:rPr>
              <a:t>Defining Brands</a:t>
            </a:r>
            <a:endParaRPr/>
          </a:p>
        </p:txBody>
      </p:sp>
      <p:sp>
        <p:nvSpPr>
          <p:cNvPr id="201" name="Google Shape;201;p21"/>
          <p:cNvSpPr txBox="1"/>
          <p:nvPr/>
        </p:nvSpPr>
        <p:spPr>
          <a:xfrm>
            <a:off x="8239125" y="2608808"/>
            <a:ext cx="3067200" cy="185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25" u="none" cap="none" strike="noStrike">
                <a:solidFill>
                  <a:srgbClr val="2D3136"/>
                </a:solidFill>
                <a:latin typeface="Plus Jakarta Sans"/>
                <a:ea typeface="Plus Jakarta Sans"/>
                <a:cs typeface="Plus Jakarta Sans"/>
                <a:sym typeface="Plus Jakarta Sans"/>
              </a:rPr>
              <a:t>The aggregate distribution of roll-call votes refines both individual member records and high-level, macro-partisan brands over time.</a:t>
            </a:r>
            <a:endParaRPr sz="1900"/>
          </a:p>
        </p:txBody>
      </p:sp>
      <p:pic>
        <p:nvPicPr>
          <p:cNvPr descr="image.png" id="202" name="Google Shape;202;p21"/>
          <p:cNvPicPr preferRelativeResize="0"/>
          <p:nvPr/>
        </p:nvPicPr>
        <p:blipFill rotWithShape="1">
          <a:blip r:embed="rId7">
            <a:alphaModFix/>
          </a:blip>
          <a:srcRect b="0" l="0" r="0" t="0"/>
          <a:stretch/>
        </p:blipFill>
        <p:spPr>
          <a:xfrm>
            <a:off x="885825" y="1713458"/>
            <a:ext cx="304800" cy="266700"/>
          </a:xfrm>
          <a:prstGeom prst="rect">
            <a:avLst/>
          </a:prstGeom>
          <a:noFill/>
          <a:ln>
            <a:noFill/>
          </a:ln>
        </p:spPr>
      </p:pic>
      <p:pic>
        <p:nvPicPr>
          <p:cNvPr descr="image.png" id="203" name="Google Shape;203;p21"/>
          <p:cNvPicPr preferRelativeResize="0"/>
          <p:nvPr/>
        </p:nvPicPr>
        <p:blipFill rotWithShape="1">
          <a:blip r:embed="rId8">
            <a:alphaModFix/>
          </a:blip>
          <a:srcRect b="0" l="0" r="0" t="0"/>
          <a:stretch/>
        </p:blipFill>
        <p:spPr>
          <a:xfrm>
            <a:off x="4562475" y="1713458"/>
            <a:ext cx="266700" cy="266700"/>
          </a:xfrm>
          <a:prstGeom prst="rect">
            <a:avLst/>
          </a:prstGeom>
          <a:noFill/>
          <a:ln>
            <a:noFill/>
          </a:ln>
        </p:spPr>
      </p:pic>
      <p:pic>
        <p:nvPicPr>
          <p:cNvPr descr="image.png" id="204" name="Google Shape;204;p21"/>
          <p:cNvPicPr preferRelativeResize="0"/>
          <p:nvPr/>
        </p:nvPicPr>
        <p:blipFill rotWithShape="1">
          <a:blip r:embed="rId9">
            <a:alphaModFix/>
          </a:blip>
          <a:srcRect b="0" l="0" r="0" t="0"/>
          <a:stretch/>
        </p:blipFill>
        <p:spPr>
          <a:xfrm>
            <a:off x="8239125" y="1713458"/>
            <a:ext cx="266700" cy="266700"/>
          </a:xfrm>
          <a:prstGeom prst="rect">
            <a:avLst/>
          </a:prstGeom>
          <a:noFill/>
          <a:ln>
            <a:noFill/>
          </a:ln>
        </p:spPr>
      </p:pic>
      <p:sp>
        <p:nvSpPr>
          <p:cNvPr id="205" name="Google Shape;205;p21"/>
          <p:cNvSpPr txBox="1"/>
          <p:nvPr/>
        </p:nvSpPr>
        <p:spPr>
          <a:xfrm>
            <a:off x="676275" y="485775"/>
            <a:ext cx="11381400" cy="863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550">
                <a:solidFill>
                  <a:srgbClr val="5E0D1B"/>
                </a:solidFill>
                <a:latin typeface="Lora SemiBold"/>
                <a:ea typeface="Lora SemiBold"/>
                <a:cs typeface="Lora SemiBold"/>
                <a:sym typeface="Lora SemiBold"/>
              </a:rPr>
              <a:t>Are there consequences for the legislative process and for political parties brands?  (Or, w</a:t>
            </a:r>
            <a:r>
              <a:rPr b="0" i="0" lang="en-US" sz="2550" u="none" cap="none" strike="noStrike">
                <a:solidFill>
                  <a:srgbClr val="5E0D1B"/>
                </a:solidFill>
                <a:latin typeface="Lora SemiBold"/>
                <a:ea typeface="Lora SemiBold"/>
                <a:cs typeface="Lora SemiBold"/>
                <a:sym typeface="Lora SemiBold"/>
              </a:rPr>
              <a:t>hy we </a:t>
            </a:r>
            <a:r>
              <a:rPr lang="en-US" sz="2550">
                <a:solidFill>
                  <a:srgbClr val="5E0D1B"/>
                </a:solidFill>
                <a:latin typeface="Lora SemiBold"/>
                <a:ea typeface="Lora SemiBold"/>
                <a:cs typeface="Lora SemiBold"/>
                <a:sym typeface="Lora SemiBold"/>
              </a:rPr>
              <a:t>a</a:t>
            </a:r>
            <a:r>
              <a:rPr b="0" i="0" lang="en-US" sz="2550" u="none" cap="none" strike="noStrike">
                <a:solidFill>
                  <a:srgbClr val="5E0D1B"/>
                </a:solidFill>
                <a:latin typeface="Lora SemiBold"/>
                <a:ea typeface="Lora SemiBold"/>
                <a:cs typeface="Lora SemiBold"/>
                <a:sym typeface="Lora SemiBold"/>
              </a:rPr>
              <a:t>nalyze </a:t>
            </a:r>
            <a:r>
              <a:rPr lang="en-US" sz="2550">
                <a:solidFill>
                  <a:srgbClr val="5E0D1B"/>
                </a:solidFill>
                <a:latin typeface="Lora SemiBold"/>
                <a:ea typeface="Lora SemiBold"/>
                <a:cs typeface="Lora SemiBold"/>
                <a:sym typeface="Lora SemiBold"/>
              </a:rPr>
              <a:t>r</a:t>
            </a:r>
            <a:r>
              <a:rPr b="0" i="0" lang="en-US" sz="2550" u="none" cap="none" strike="noStrike">
                <a:solidFill>
                  <a:srgbClr val="5E0D1B"/>
                </a:solidFill>
                <a:latin typeface="Lora SemiBold"/>
                <a:ea typeface="Lora SemiBold"/>
                <a:cs typeface="Lora SemiBold"/>
                <a:sym typeface="Lora SemiBold"/>
              </a:rPr>
              <a:t>oll-</a:t>
            </a:r>
            <a:r>
              <a:rPr lang="en-US" sz="2550">
                <a:solidFill>
                  <a:srgbClr val="5E0D1B"/>
                </a:solidFill>
                <a:latin typeface="Lora SemiBold"/>
                <a:ea typeface="Lora SemiBold"/>
                <a:cs typeface="Lora SemiBold"/>
                <a:sym typeface="Lora SemiBold"/>
              </a:rPr>
              <a:t>c</a:t>
            </a:r>
            <a:r>
              <a:rPr b="0" i="0" lang="en-US" sz="2550" u="none" cap="none" strike="noStrike">
                <a:solidFill>
                  <a:srgbClr val="5E0D1B"/>
                </a:solidFill>
                <a:latin typeface="Lora SemiBold"/>
                <a:ea typeface="Lora SemiBold"/>
                <a:cs typeface="Lora SemiBold"/>
                <a:sym typeface="Lora SemiBold"/>
              </a:rPr>
              <a:t>all </a:t>
            </a:r>
            <a:r>
              <a:rPr lang="en-US" sz="2550">
                <a:solidFill>
                  <a:srgbClr val="5E0D1B"/>
                </a:solidFill>
                <a:latin typeface="Lora SemiBold"/>
                <a:ea typeface="Lora SemiBold"/>
                <a:cs typeface="Lora SemiBold"/>
                <a:sym typeface="Lora SemiBold"/>
              </a:rPr>
              <a:t>v</a:t>
            </a:r>
            <a:r>
              <a:rPr b="0" i="0" lang="en-US" sz="2550" u="none" cap="none" strike="noStrike">
                <a:solidFill>
                  <a:srgbClr val="5E0D1B"/>
                </a:solidFill>
                <a:latin typeface="Lora SemiBold"/>
                <a:ea typeface="Lora SemiBold"/>
                <a:cs typeface="Lora SemiBold"/>
                <a:sym typeface="Lora SemiBold"/>
              </a:rPr>
              <a:t>oting?</a:t>
            </a:r>
            <a:endParaRPr/>
          </a:p>
        </p:txBody>
      </p:sp>
      <p:sp>
        <p:nvSpPr>
          <p:cNvPr id="206" name="Google Shape;206;p21"/>
          <p:cNvSpPr/>
          <p:nvPr/>
        </p:nvSpPr>
        <p:spPr>
          <a:xfrm>
            <a:off x="676275" y="969615"/>
            <a:ext cx="10839450" cy="9525"/>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210" name="Shape 210"/>
        <p:cNvGrpSpPr/>
        <p:nvPr/>
      </p:nvGrpSpPr>
      <p:grpSpPr>
        <a:xfrm>
          <a:off x="0" y="0"/>
          <a:ext cx="0" cy="0"/>
          <a:chOff x="0" y="0"/>
          <a:chExt cx="0" cy="0"/>
        </a:xfrm>
      </p:grpSpPr>
      <p:pic>
        <p:nvPicPr>
          <p:cNvPr descr="image.png" id="211" name="Google Shape;211;p22"/>
          <p:cNvPicPr preferRelativeResize="0"/>
          <p:nvPr/>
        </p:nvPicPr>
        <p:blipFill rotWithShape="1">
          <a:blip r:embed="rId3">
            <a:alphaModFix/>
          </a:blip>
          <a:srcRect b="0" l="0" r="0" t="0"/>
          <a:stretch/>
        </p:blipFill>
        <p:spPr>
          <a:xfrm>
            <a:off x="0" y="-838200"/>
            <a:ext cx="12192000" cy="6858000"/>
          </a:xfrm>
          <a:prstGeom prst="rect">
            <a:avLst/>
          </a:prstGeom>
          <a:noFill/>
          <a:ln>
            <a:noFill/>
          </a:ln>
        </p:spPr>
      </p:pic>
      <p:pic>
        <p:nvPicPr>
          <p:cNvPr descr="image.png" id="212" name="Google Shape;212;p22"/>
          <p:cNvPicPr preferRelativeResize="0"/>
          <p:nvPr/>
        </p:nvPicPr>
        <p:blipFill rotWithShape="1">
          <a:blip r:embed="rId4">
            <a:alphaModFix/>
          </a:blip>
          <a:srcRect b="0" l="0" r="0" t="0"/>
          <a:stretch/>
        </p:blipFill>
        <p:spPr>
          <a:xfrm>
            <a:off x="6334125" y="1225000"/>
            <a:ext cx="5181600" cy="4588625"/>
          </a:xfrm>
          <a:prstGeom prst="rect">
            <a:avLst/>
          </a:prstGeom>
          <a:noFill/>
          <a:ln>
            <a:noFill/>
          </a:ln>
        </p:spPr>
      </p:pic>
      <p:sp>
        <p:nvSpPr>
          <p:cNvPr id="213" name="Google Shape;213;p22"/>
          <p:cNvSpPr txBox="1"/>
          <p:nvPr/>
        </p:nvSpPr>
        <p:spPr>
          <a:xfrm>
            <a:off x="676275" y="1225004"/>
            <a:ext cx="5181600" cy="2847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850" u="none" cap="none" strike="noStrike">
                <a:solidFill>
                  <a:srgbClr val="BC9548"/>
                </a:solidFill>
                <a:latin typeface="Cinzel SemiBold"/>
                <a:ea typeface="Cinzel SemiBold"/>
                <a:cs typeface="Cinzel SemiBold"/>
                <a:sym typeface="Cinzel SemiBold"/>
              </a:rPr>
              <a:t>THE CULTURAL ISSUE SCORE (CIS)</a:t>
            </a:r>
            <a:endParaRPr sz="2200"/>
          </a:p>
        </p:txBody>
      </p:sp>
      <p:sp>
        <p:nvSpPr>
          <p:cNvPr id="214" name="Google Shape;214;p22"/>
          <p:cNvSpPr txBox="1"/>
          <p:nvPr/>
        </p:nvSpPr>
        <p:spPr>
          <a:xfrm>
            <a:off x="676275" y="1533525"/>
            <a:ext cx="5181600" cy="1163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800" u="none" cap="none" strike="noStrike">
                <a:solidFill>
                  <a:srgbClr val="5E0D1B"/>
                </a:solidFill>
                <a:latin typeface="Plus Jakarta Sans SemiBold"/>
                <a:ea typeface="Plus Jakarta Sans SemiBold"/>
                <a:cs typeface="Plus Jakarta Sans SemiBold"/>
                <a:sym typeface="Plus Jakarta Sans SemiBold"/>
              </a:rPr>
              <a:t>We construct  Yearly and Career-level </a:t>
            </a:r>
            <a:r>
              <a:rPr lang="en-US" sz="1800">
                <a:solidFill>
                  <a:srgbClr val="5E0D1B"/>
                </a:solidFill>
                <a:latin typeface="Plus Jakarta Sans SemiBold"/>
                <a:ea typeface="Plus Jakarta Sans SemiBold"/>
                <a:cs typeface="Plus Jakarta Sans SemiBold"/>
                <a:sym typeface="Plus Jakarta Sans SemiBold"/>
              </a:rPr>
              <a:t>Cultural Issue Scores </a:t>
            </a:r>
            <a:r>
              <a:rPr b="0" i="0" lang="en-US" sz="1800" u="none" cap="none" strike="noStrike">
                <a:solidFill>
                  <a:srgbClr val="5E0D1B"/>
                </a:solidFill>
                <a:latin typeface="Plus Jakarta Sans SemiBold"/>
                <a:ea typeface="Plus Jakarta Sans SemiBold"/>
                <a:cs typeface="Plus Jakarta Sans SemiBold"/>
                <a:sym typeface="Plus Jakarta Sans SemiBold"/>
              </a:rPr>
              <a:t>tracking annual positions on intense cultural conflicts.</a:t>
            </a:r>
            <a:endParaRPr sz="2000"/>
          </a:p>
        </p:txBody>
      </p:sp>
      <p:sp>
        <p:nvSpPr>
          <p:cNvPr id="215" name="Google Shape;215;p22"/>
          <p:cNvSpPr txBox="1"/>
          <p:nvPr/>
        </p:nvSpPr>
        <p:spPr>
          <a:xfrm>
            <a:off x="6667500" y="1510754"/>
            <a:ext cx="4790700" cy="631200"/>
          </a:xfrm>
          <a:prstGeom prst="rect">
            <a:avLst/>
          </a:prstGeom>
          <a:noFill/>
          <a:ln>
            <a:noFill/>
          </a:ln>
        </p:spPr>
        <p:txBody>
          <a:bodyPr anchorCtr="0" anchor="t" bIns="0" lIns="161925" spcFirstLastPara="1" rIns="0" wrap="square" tIns="0">
            <a:spAutoFit/>
          </a:bodyPr>
          <a:lstStyle/>
          <a:p>
            <a:pPr indent="0" lvl="0" marL="0" marR="0" rtl="0" algn="l">
              <a:spcBef>
                <a:spcPts val="0"/>
              </a:spcBef>
              <a:spcAft>
                <a:spcPts val="0"/>
              </a:spcAft>
              <a:buNone/>
            </a:pPr>
            <a:r>
              <a:rPr lang="en-US" sz="2050">
                <a:solidFill>
                  <a:srgbClr val="5E0D1B"/>
                </a:solidFill>
                <a:latin typeface="Lora SemiBold"/>
                <a:ea typeface="Lora SemiBold"/>
                <a:cs typeface="Lora SemiBold"/>
                <a:sym typeface="Lora SemiBold"/>
              </a:rPr>
              <a:t> Cultural Issue Score </a:t>
            </a:r>
            <a:r>
              <a:rPr b="0" i="0" lang="en-US" sz="2050" u="none" cap="none" strike="noStrike">
                <a:solidFill>
                  <a:srgbClr val="5E0D1B"/>
                </a:solidFill>
                <a:latin typeface="Lora SemiBold"/>
                <a:ea typeface="Lora SemiBold"/>
                <a:cs typeface="Lora SemiBold"/>
                <a:sym typeface="Lora SemiBold"/>
              </a:rPr>
              <a:t>Composition (375 Votes)</a:t>
            </a:r>
            <a:endParaRPr sz="1800"/>
          </a:p>
        </p:txBody>
      </p:sp>
      <p:sp>
        <p:nvSpPr>
          <p:cNvPr id="216" name="Google Shape;216;p22"/>
          <p:cNvSpPr txBox="1"/>
          <p:nvPr/>
        </p:nvSpPr>
        <p:spPr>
          <a:xfrm>
            <a:off x="6667500" y="2091078"/>
            <a:ext cx="4562400" cy="11307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1" i="0" lang="en-US" sz="1750" u="none" cap="none" strike="noStrike">
                <a:solidFill>
                  <a:srgbClr val="2D3136"/>
                </a:solidFill>
                <a:latin typeface="Plus Jakarta Sans"/>
                <a:ea typeface="Plus Jakarta Sans"/>
                <a:cs typeface="Plus Jakarta Sans"/>
                <a:sym typeface="Plus Jakarta Sans"/>
              </a:rPr>
              <a:t>Reproductive Rights (55%):</a:t>
            </a:r>
            <a:r>
              <a:rPr b="0" i="0" lang="en-US" sz="1750" u="none" cap="none" strike="noStrike">
                <a:solidFill>
                  <a:srgbClr val="2D3136"/>
                </a:solidFill>
                <a:latin typeface="Plus Jakarta Sans"/>
                <a:ea typeface="Plus Jakarta Sans"/>
                <a:cs typeface="Plus Jakarta Sans"/>
                <a:sym typeface="Plus Jakarta Sans"/>
              </a:rPr>
              <a:t> Abortion access, birth control, contraception, and fetal personhood legislation.</a:t>
            </a:r>
            <a:endParaRPr sz="2100"/>
          </a:p>
        </p:txBody>
      </p:sp>
      <p:sp>
        <p:nvSpPr>
          <p:cNvPr id="217" name="Google Shape;217;p22"/>
          <p:cNvSpPr txBox="1"/>
          <p:nvPr/>
        </p:nvSpPr>
        <p:spPr>
          <a:xfrm>
            <a:off x="6667500" y="3375907"/>
            <a:ext cx="4562400" cy="10017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1" i="0" lang="en-US" sz="1550" u="none" cap="none" strike="noStrike">
                <a:solidFill>
                  <a:srgbClr val="2D3136"/>
                </a:solidFill>
                <a:latin typeface="Plus Jakarta Sans"/>
                <a:ea typeface="Plus Jakarta Sans"/>
                <a:cs typeface="Plus Jakarta Sans"/>
                <a:sym typeface="Plus Jakarta Sans"/>
              </a:rPr>
              <a:t>LGBTQ Rights (15%):</a:t>
            </a:r>
            <a:r>
              <a:rPr b="0" i="0" lang="en-US" sz="1550" u="none" cap="none" strike="noStrike">
                <a:solidFill>
                  <a:srgbClr val="2D3136"/>
                </a:solidFill>
                <a:latin typeface="Plus Jakarta Sans"/>
                <a:ea typeface="Plus Jakarta Sans"/>
                <a:cs typeface="Plus Jakarta Sans"/>
                <a:sym typeface="Plus Jakarta Sans"/>
              </a:rPr>
              <a:t> Same-sex marriage bans, Boy Scout policies, military inclusion, and school expression.</a:t>
            </a:r>
            <a:endParaRPr sz="1900"/>
          </a:p>
        </p:txBody>
      </p:sp>
      <p:sp>
        <p:nvSpPr>
          <p:cNvPr id="218" name="Google Shape;218;p22"/>
          <p:cNvSpPr txBox="1"/>
          <p:nvPr/>
        </p:nvSpPr>
        <p:spPr>
          <a:xfrm>
            <a:off x="6667500" y="4411115"/>
            <a:ext cx="4562400" cy="13830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1" i="0" lang="en-US" sz="1550" u="none" cap="none" strike="noStrike">
                <a:solidFill>
                  <a:srgbClr val="2D3136"/>
                </a:solidFill>
                <a:latin typeface="Plus Jakarta Sans"/>
                <a:ea typeface="Plus Jakarta Sans"/>
                <a:cs typeface="Plus Jakarta Sans"/>
                <a:sym typeface="Plus Jakarta Sans"/>
              </a:rPr>
              <a:t>Remaining </a:t>
            </a:r>
            <a:r>
              <a:rPr b="1" lang="en-US" sz="1550">
                <a:solidFill>
                  <a:srgbClr val="2D3136"/>
                </a:solidFill>
                <a:latin typeface="Plus Jakarta Sans"/>
                <a:ea typeface="Plus Jakarta Sans"/>
                <a:cs typeface="Plus Jakarta Sans"/>
                <a:sym typeface="Plus Jakarta Sans"/>
              </a:rPr>
              <a:t>Issues </a:t>
            </a:r>
            <a:r>
              <a:rPr b="1" i="0" lang="en-US" sz="1550" u="none" cap="none" strike="noStrike">
                <a:solidFill>
                  <a:srgbClr val="2D3136"/>
                </a:solidFill>
                <a:latin typeface="Plus Jakarta Sans"/>
                <a:ea typeface="Plus Jakarta Sans"/>
                <a:cs typeface="Plus Jakarta Sans"/>
                <a:sym typeface="Plus Jakarta Sans"/>
              </a:rPr>
              <a:t>(30%):</a:t>
            </a:r>
            <a:r>
              <a:rPr b="0" i="0" lang="en-US" sz="1550" u="none" cap="none" strike="noStrike">
                <a:solidFill>
                  <a:srgbClr val="2D3136"/>
                </a:solidFill>
                <a:latin typeface="Plus Jakarta Sans"/>
                <a:ea typeface="Plus Jakarta Sans"/>
                <a:cs typeface="Plus Jakarta Sans"/>
                <a:sym typeface="Plus Jakarta Sans"/>
              </a:rPr>
              <a:t> Women's rights (10%), free exercise of religion (9%), capital punishment (7%), stem cell research (2%), public art funding (2%).</a:t>
            </a:r>
            <a:endParaRPr sz="1900"/>
          </a:p>
        </p:txBody>
      </p:sp>
      <p:pic>
        <p:nvPicPr>
          <p:cNvPr descr="image.png" id="219" name="Google Shape;219;p22"/>
          <p:cNvPicPr preferRelativeResize="0"/>
          <p:nvPr/>
        </p:nvPicPr>
        <p:blipFill rotWithShape="1">
          <a:blip r:embed="rId5">
            <a:alphaModFix/>
          </a:blip>
          <a:srcRect b="0" l="0" r="0" t="0"/>
          <a:stretch/>
        </p:blipFill>
        <p:spPr>
          <a:xfrm>
            <a:off x="6667500" y="1558379"/>
            <a:ext cx="161925" cy="209550"/>
          </a:xfrm>
          <a:prstGeom prst="rect">
            <a:avLst/>
          </a:prstGeom>
          <a:noFill/>
          <a:ln>
            <a:noFill/>
          </a:ln>
        </p:spPr>
      </p:pic>
      <p:sp>
        <p:nvSpPr>
          <p:cNvPr id="220" name="Google Shape;220;p22"/>
          <p:cNvSpPr txBox="1"/>
          <p:nvPr/>
        </p:nvSpPr>
        <p:spPr>
          <a:xfrm>
            <a:off x="962025" y="2707923"/>
            <a:ext cx="4896000" cy="1179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825" u="none" cap="none" strike="noStrike">
                <a:solidFill>
                  <a:srgbClr val="2D3136"/>
                </a:solidFill>
                <a:latin typeface="Plus Jakarta Sans"/>
                <a:ea typeface="Plus Jakarta Sans"/>
                <a:cs typeface="Plus Jakarta Sans"/>
                <a:sym typeface="Plus Jakarta Sans"/>
              </a:rPr>
              <a:t>Comprehensive Index:</a:t>
            </a:r>
            <a:r>
              <a:rPr b="0" i="0" lang="en-US" sz="1825" u="none" cap="none" strike="noStrike">
                <a:solidFill>
                  <a:srgbClr val="2D3136"/>
                </a:solidFill>
                <a:latin typeface="Plus Jakarta Sans"/>
                <a:ea typeface="Plus Jakarta Sans"/>
                <a:cs typeface="Plus Jakarta Sans"/>
                <a:sym typeface="Plus Jakarta Sans"/>
              </a:rPr>
              <a:t> Runs from 0 (perfectly conservative) to 1 (perfectly liberal) utilizing non-unanimous roll-call votes.</a:t>
            </a:r>
            <a:endParaRPr sz="2100"/>
          </a:p>
        </p:txBody>
      </p:sp>
      <p:sp>
        <p:nvSpPr>
          <p:cNvPr id="221" name="Google Shape;221;p22"/>
          <p:cNvSpPr txBox="1"/>
          <p:nvPr/>
        </p:nvSpPr>
        <p:spPr>
          <a:xfrm>
            <a:off x="962025" y="3919337"/>
            <a:ext cx="4896000" cy="1450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25" u="none" cap="none" strike="noStrike">
                <a:solidFill>
                  <a:srgbClr val="2D3136"/>
                </a:solidFill>
                <a:latin typeface="Plus Jakarta Sans"/>
                <a:ea typeface="Plus Jakarta Sans"/>
                <a:cs typeface="Plus Jakarta Sans"/>
                <a:sym typeface="Plus Jakarta Sans"/>
              </a:rPr>
              <a:t>Annual  and Total:</a:t>
            </a:r>
            <a:r>
              <a:rPr b="0" i="0" lang="en-US" sz="1625" u="none" cap="none" strike="noStrike">
                <a:solidFill>
                  <a:srgbClr val="2D3136"/>
                </a:solidFill>
                <a:latin typeface="Plus Jakarta Sans"/>
                <a:ea typeface="Plus Jakarta Sans"/>
                <a:cs typeface="Plus Jakarta Sans"/>
                <a:sym typeface="Plus Jakarta Sans"/>
              </a:rPr>
              <a:t> Analyzed by year (1971–2024) to isolate election-year incentives and dynamic agenda changes as well as career-level</a:t>
            </a:r>
            <a:r>
              <a:rPr lang="en-US" sz="1625">
                <a:solidFill>
                  <a:srgbClr val="2D3136"/>
                </a:solidFill>
                <a:latin typeface="Plus Jakarta Sans"/>
                <a:ea typeface="Plus Jakarta Sans"/>
                <a:cs typeface="Plus Jakarta Sans"/>
                <a:sym typeface="Plus Jakarta Sans"/>
              </a:rPr>
              <a:t> and Volatility across career (stability).</a:t>
            </a:r>
            <a:endParaRPr sz="1900"/>
          </a:p>
        </p:txBody>
      </p:sp>
      <p:sp>
        <p:nvSpPr>
          <p:cNvPr id="222" name="Google Shape;222;p22"/>
          <p:cNvSpPr txBox="1"/>
          <p:nvPr/>
        </p:nvSpPr>
        <p:spPr>
          <a:xfrm>
            <a:off x="962025" y="5436589"/>
            <a:ext cx="4896000" cy="1050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25" u="none" cap="none" strike="noStrike">
                <a:solidFill>
                  <a:srgbClr val="2D3136"/>
                </a:solidFill>
                <a:latin typeface="Plus Jakarta Sans"/>
                <a:ea typeface="Plus Jakarta Sans"/>
                <a:cs typeface="Plus Jakarta Sans"/>
                <a:sym typeface="Plus Jakarta Sans"/>
              </a:rPr>
              <a:t>Rigorously Sourced:</a:t>
            </a:r>
            <a:r>
              <a:rPr b="0" i="0" lang="en-US" sz="1625" u="none" cap="none" strike="noStrike">
                <a:solidFill>
                  <a:srgbClr val="2D3136"/>
                </a:solidFill>
                <a:latin typeface="Plus Jakarta Sans"/>
                <a:ea typeface="Plus Jakarta Sans"/>
                <a:cs typeface="Plus Jakarta Sans"/>
                <a:sym typeface="Plus Jakarta Sans"/>
              </a:rPr>
              <a:t> Compiled from Senate Library archives and cross-referenced with scorecards</a:t>
            </a:r>
            <a:endParaRPr sz="1900"/>
          </a:p>
        </p:txBody>
      </p:sp>
      <p:pic>
        <p:nvPicPr>
          <p:cNvPr descr="image.png" id="223" name="Google Shape;223;p22"/>
          <p:cNvPicPr preferRelativeResize="0"/>
          <p:nvPr/>
        </p:nvPicPr>
        <p:blipFill rotWithShape="1">
          <a:blip r:embed="rId6">
            <a:alphaModFix/>
          </a:blip>
          <a:srcRect b="0" l="0" r="0" t="0"/>
          <a:stretch/>
        </p:blipFill>
        <p:spPr>
          <a:xfrm>
            <a:off x="676275" y="2729413"/>
            <a:ext cx="114300" cy="152400"/>
          </a:xfrm>
          <a:prstGeom prst="rect">
            <a:avLst/>
          </a:prstGeom>
          <a:noFill/>
          <a:ln>
            <a:noFill/>
          </a:ln>
        </p:spPr>
      </p:pic>
      <p:pic>
        <p:nvPicPr>
          <p:cNvPr descr="image.png" id="224" name="Google Shape;224;p22"/>
          <p:cNvPicPr preferRelativeResize="0"/>
          <p:nvPr/>
        </p:nvPicPr>
        <p:blipFill rotWithShape="1">
          <a:blip r:embed="rId7">
            <a:alphaModFix/>
          </a:blip>
          <a:srcRect b="0" l="0" r="0" t="0"/>
          <a:stretch/>
        </p:blipFill>
        <p:spPr>
          <a:xfrm>
            <a:off x="666750" y="5661235"/>
            <a:ext cx="133350" cy="152400"/>
          </a:xfrm>
          <a:prstGeom prst="rect">
            <a:avLst/>
          </a:prstGeom>
          <a:noFill/>
          <a:ln>
            <a:noFill/>
          </a:ln>
        </p:spPr>
      </p:pic>
      <p:pic>
        <p:nvPicPr>
          <p:cNvPr descr="image.png" id="225" name="Google Shape;225;p22"/>
          <p:cNvPicPr preferRelativeResize="0"/>
          <p:nvPr/>
        </p:nvPicPr>
        <p:blipFill rotWithShape="1">
          <a:blip r:embed="rId8">
            <a:alphaModFix/>
          </a:blip>
          <a:srcRect b="0" l="0" r="0" t="0"/>
          <a:stretch/>
        </p:blipFill>
        <p:spPr>
          <a:xfrm>
            <a:off x="676275" y="4421385"/>
            <a:ext cx="133350" cy="152400"/>
          </a:xfrm>
          <a:prstGeom prst="rect">
            <a:avLst/>
          </a:prstGeom>
          <a:noFill/>
          <a:ln>
            <a:noFill/>
          </a:ln>
        </p:spPr>
      </p:pic>
      <p:sp>
        <p:nvSpPr>
          <p:cNvPr id="226" name="Google Shape;226;p22"/>
          <p:cNvSpPr txBox="1"/>
          <p:nvPr/>
        </p:nvSpPr>
        <p:spPr>
          <a:xfrm>
            <a:off x="676275" y="485775"/>
            <a:ext cx="11381400" cy="392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550">
                <a:solidFill>
                  <a:srgbClr val="5E0D1B"/>
                </a:solidFill>
                <a:latin typeface="Lora SemiBold"/>
                <a:ea typeface="Lora SemiBold"/>
                <a:cs typeface="Lora SemiBold"/>
                <a:sym typeface="Lora SemiBold"/>
              </a:rPr>
              <a:t>Cultural Issue Score </a:t>
            </a:r>
            <a:r>
              <a:rPr b="0" i="0" lang="en-US" sz="2550" u="none" cap="none" strike="noStrike">
                <a:solidFill>
                  <a:srgbClr val="5E0D1B"/>
                </a:solidFill>
                <a:latin typeface="Lora SemiBold"/>
                <a:ea typeface="Lora SemiBold"/>
                <a:cs typeface="Lora SemiBold"/>
                <a:sym typeface="Lora SemiBold"/>
              </a:rPr>
              <a:t>Data &amp; Methodology</a:t>
            </a:r>
            <a:endParaRPr/>
          </a:p>
        </p:txBody>
      </p:sp>
      <p:sp>
        <p:nvSpPr>
          <p:cNvPr id="227" name="Google Shape;227;p22"/>
          <p:cNvSpPr/>
          <p:nvPr/>
        </p:nvSpPr>
        <p:spPr>
          <a:xfrm>
            <a:off x="676275" y="969615"/>
            <a:ext cx="10839450" cy="9525"/>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231" name="Shape 231"/>
        <p:cNvGrpSpPr/>
        <p:nvPr/>
      </p:nvGrpSpPr>
      <p:grpSpPr>
        <a:xfrm>
          <a:off x="0" y="0"/>
          <a:ext cx="0" cy="0"/>
          <a:chOff x="0" y="0"/>
          <a:chExt cx="0" cy="0"/>
        </a:xfrm>
      </p:grpSpPr>
      <p:pic>
        <p:nvPicPr>
          <p:cNvPr descr="image.png" id="232" name="Google Shape;232;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3" name="Google Shape;233;p23"/>
          <p:cNvPicPr preferRelativeResize="0"/>
          <p:nvPr/>
        </p:nvPicPr>
        <p:blipFill rotWithShape="1">
          <a:blip r:embed="rId4">
            <a:alphaModFix/>
          </a:blip>
          <a:srcRect b="0" l="0" r="0" t="0"/>
          <a:stretch/>
        </p:blipFill>
        <p:spPr>
          <a:xfrm>
            <a:off x="676275" y="2096690"/>
            <a:ext cx="10839450" cy="2912119"/>
          </a:xfrm>
          <a:prstGeom prst="rect">
            <a:avLst/>
          </a:prstGeom>
          <a:noFill/>
          <a:ln>
            <a:noFill/>
          </a:ln>
        </p:spPr>
      </p:pic>
      <p:sp>
        <p:nvSpPr>
          <p:cNvPr id="234" name="Google Shape;234;p23"/>
          <p:cNvSpPr txBox="1"/>
          <p:nvPr/>
        </p:nvSpPr>
        <p:spPr>
          <a:xfrm>
            <a:off x="327450" y="5650764"/>
            <a:ext cx="10839600" cy="710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1775" u="none" cap="none" strike="noStrike">
                <a:solidFill>
                  <a:srgbClr val="6B7075"/>
                </a:solidFill>
                <a:latin typeface="Plus Jakarta Sans"/>
                <a:ea typeface="Plus Jakarta Sans"/>
                <a:cs typeface="Plus Jakarta Sans"/>
                <a:sym typeface="Plus Jakarta Sans"/>
              </a:rPr>
              <a:t> Gaps between demographic groups are much  wider on cultural issues than on general legislative DW-NOMINATE scores.</a:t>
            </a:r>
            <a:endParaRPr sz="2200"/>
          </a:p>
        </p:txBody>
      </p:sp>
      <p:graphicFrame>
        <p:nvGraphicFramePr>
          <p:cNvPr id="235" name="Google Shape;235;p23"/>
          <p:cNvGraphicFramePr/>
          <p:nvPr/>
        </p:nvGraphicFramePr>
        <p:xfrm>
          <a:off x="685800" y="1104515"/>
          <a:ext cx="3000000" cy="3000000"/>
        </p:xfrm>
        <a:graphic>
          <a:graphicData uri="http://schemas.openxmlformats.org/drawingml/2006/table">
            <a:tbl>
              <a:tblPr bandRow="1" firstRow="1">
                <a:noFill/>
                <a:tableStyleId>{C8F07A49-AF4C-4986-92E5-D8D07AEF240A}</a:tableStyleId>
              </a:tblPr>
              <a:tblGrid>
                <a:gridCol w="1882225"/>
                <a:gridCol w="2325600"/>
                <a:gridCol w="2177800"/>
                <a:gridCol w="4434775"/>
              </a:tblGrid>
              <a:tr h="614775">
                <a:tc>
                  <a:txBody>
                    <a:bodyPr/>
                    <a:lstStyle/>
                    <a:p>
                      <a:pPr indent="0" lvl="0" marL="0" marR="0" rtl="0" algn="l">
                        <a:spcBef>
                          <a:spcPts val="0"/>
                        </a:spcBef>
                        <a:spcAft>
                          <a:spcPts val="0"/>
                        </a:spcAft>
                        <a:buNone/>
                      </a:pPr>
                      <a:r>
                        <a:rPr b="0" i="0" lang="en-US" sz="1450" u="none" cap="none" strike="noStrike">
                          <a:solidFill>
                            <a:srgbClr val="FCFAF7"/>
                          </a:solidFill>
                          <a:latin typeface="Lora Medium"/>
                          <a:ea typeface="Lora Medium"/>
                          <a:cs typeface="Lora Medium"/>
                          <a:sym typeface="Lora Medium"/>
                        </a:rPr>
                        <a:t>Demographic Group</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E0D1B"/>
                    </a:solidFill>
                  </a:tcPr>
                </a:tc>
                <a:tc>
                  <a:txBody>
                    <a:bodyPr/>
                    <a:lstStyle/>
                    <a:p>
                      <a:pPr indent="0" lvl="0" marL="0" marR="0" rtl="0" algn="l">
                        <a:spcBef>
                          <a:spcPts val="0"/>
                        </a:spcBef>
                        <a:spcAft>
                          <a:spcPts val="0"/>
                        </a:spcAft>
                        <a:buNone/>
                      </a:pPr>
                      <a:r>
                        <a:rPr b="0" i="0" lang="en-US" sz="1450" u="none" cap="none" strike="noStrike">
                          <a:solidFill>
                            <a:srgbClr val="FCFAF7"/>
                          </a:solidFill>
                          <a:latin typeface="Lora Medium"/>
                          <a:ea typeface="Lora Medium"/>
                          <a:cs typeface="Lora Medium"/>
                          <a:sym typeface="Lora Medium"/>
                        </a:rPr>
                        <a:t>Mean Cultural Issue Score (CIS)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E0D1B"/>
                    </a:solidFill>
                  </a:tcPr>
                </a:tc>
                <a:tc>
                  <a:txBody>
                    <a:bodyPr/>
                    <a:lstStyle/>
                    <a:p>
                      <a:pPr indent="0" lvl="0" marL="0" marR="0" rtl="0" algn="l">
                        <a:spcBef>
                          <a:spcPts val="0"/>
                        </a:spcBef>
                        <a:spcAft>
                          <a:spcPts val="0"/>
                        </a:spcAft>
                        <a:buNone/>
                      </a:pPr>
                      <a:r>
                        <a:rPr b="0" i="0" lang="en-US" sz="1450" u="none" cap="none" strike="noStrike">
                          <a:solidFill>
                            <a:srgbClr val="FCFAF7"/>
                          </a:solidFill>
                          <a:latin typeface="Lora Medium"/>
                          <a:ea typeface="Lora Medium"/>
                          <a:cs typeface="Lora Medium"/>
                          <a:sym typeface="Lora Medium"/>
                        </a:rPr>
                        <a:t>Mean DW-NOMINATE Score</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E0D1B"/>
                    </a:solidFill>
                  </a:tcPr>
                </a:tc>
                <a:tc>
                  <a:txBody>
                    <a:bodyPr/>
                    <a:lstStyle/>
                    <a:p>
                      <a:pPr indent="0" lvl="0" marL="0" marR="0" rtl="0" algn="l">
                        <a:spcBef>
                          <a:spcPts val="0"/>
                        </a:spcBef>
                        <a:spcAft>
                          <a:spcPts val="0"/>
                        </a:spcAft>
                        <a:buNone/>
                      </a:pPr>
                      <a:r>
                        <a:rPr b="0" i="0" lang="en-US" sz="1450" u="none" cap="none" strike="noStrike">
                          <a:solidFill>
                            <a:srgbClr val="FCFAF7"/>
                          </a:solidFill>
                          <a:latin typeface="Lora Medium"/>
                          <a:ea typeface="Lora Medium"/>
                          <a:cs typeface="Lora Medium"/>
                          <a:sym typeface="Lora Medium"/>
                        </a:rPr>
                        <a:t>Core Profile Description</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E0D1B"/>
                    </a:solidFill>
                  </a:tcPr>
                </a:tc>
              </a:tr>
              <a:tr h="614775">
                <a:tc>
                  <a:txBody>
                    <a:bodyPr/>
                    <a:lstStyle/>
                    <a:p>
                      <a:pPr indent="0" lvl="0" marL="0" marR="0" rtl="0" algn="l">
                        <a:spcBef>
                          <a:spcPts val="0"/>
                        </a:spcBef>
                        <a:spcAft>
                          <a:spcPts val="0"/>
                        </a:spcAft>
                        <a:buNone/>
                      </a:pPr>
                      <a:r>
                        <a:rPr b="1" i="0" lang="en-US" sz="1450" u="none" cap="none" strike="noStrike">
                          <a:solidFill>
                            <a:srgbClr val="2D3136"/>
                          </a:solidFill>
                          <a:latin typeface="Plus Jakarta Sans"/>
                          <a:ea typeface="Plus Jakarta Sans"/>
                          <a:cs typeface="Plus Jakarta Sans"/>
                          <a:sym typeface="Plus Jakarta Sans"/>
                        </a:rPr>
                        <a:t>Evangelical Protestants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0.19 (0.07 Rep / 0.52 Dem)</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0.37 (0.28 Rep / 0.62 Dem)</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Form the structural anchor of the cultural "Right"</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14775">
                <a:tc>
                  <a:txBody>
                    <a:bodyPr/>
                    <a:lstStyle/>
                    <a:p>
                      <a:pPr indent="0" lvl="0" marL="0" marR="0" rtl="0" algn="l">
                        <a:spcBef>
                          <a:spcPts val="0"/>
                        </a:spcBef>
                        <a:spcAft>
                          <a:spcPts val="0"/>
                        </a:spcAft>
                        <a:buNone/>
                      </a:pPr>
                      <a:r>
                        <a:rPr b="1" i="0" lang="en-US" sz="1450" u="none" cap="none" strike="noStrike">
                          <a:solidFill>
                            <a:srgbClr val="2D3136"/>
                          </a:solidFill>
                          <a:latin typeface="Plus Jakarta Sans"/>
                          <a:ea typeface="Plus Jakarta Sans"/>
                          <a:cs typeface="Plus Jakarta Sans"/>
                          <a:sym typeface="Plus Jakarta Sans"/>
                        </a:rPr>
                        <a:t>LDS (Mormon)</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0.23 (0.09 Rep / 0.63 Dem)</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0.38 (0.28 Rep / 0.66 Dem)</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Stalwart conservatives; highly influenced by state demographics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r>
              <a:tr h="724050">
                <a:tc>
                  <a:txBody>
                    <a:bodyPr/>
                    <a:lstStyle/>
                    <a:p>
                      <a:pPr indent="0" lvl="0" marL="0" marR="0" rtl="0" algn="l">
                        <a:spcBef>
                          <a:spcPts val="0"/>
                        </a:spcBef>
                        <a:spcAft>
                          <a:spcPts val="0"/>
                        </a:spcAft>
                        <a:buNone/>
                      </a:pPr>
                      <a:r>
                        <a:rPr b="1" i="0" lang="en-US" sz="1450" u="none" cap="none" strike="noStrike">
                          <a:solidFill>
                            <a:srgbClr val="2D3136"/>
                          </a:solidFill>
                          <a:latin typeface="Plus Jakarta Sans"/>
                          <a:ea typeface="Plus Jakarta Sans"/>
                          <a:cs typeface="Plus Jakarta Sans"/>
                          <a:sym typeface="Plus Jakarta Sans"/>
                        </a:rPr>
                        <a:t>Roman Catholics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0.58 (0.15 Rep / 0.85 Dem)</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0.54 (0.31 Rep / 0.67 Dem)</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450">
                          <a:solidFill>
                            <a:srgbClr val="2D3136"/>
                          </a:solidFill>
                          <a:latin typeface="Plus Jakarta Sans"/>
                          <a:ea typeface="Plus Jakarta Sans"/>
                          <a:cs typeface="Plus Jakarta Sans"/>
                          <a:sym typeface="Plus Jakarta Sans"/>
                        </a:rPr>
                        <a:t>Cross-pressured by their religion between cultural and economic issues.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14775">
                <a:tc>
                  <a:txBody>
                    <a:bodyPr/>
                    <a:lstStyle/>
                    <a:p>
                      <a:pPr indent="0" lvl="0" marL="0" marR="0" rtl="0" algn="l">
                        <a:spcBef>
                          <a:spcPts val="0"/>
                        </a:spcBef>
                        <a:spcAft>
                          <a:spcPts val="0"/>
                        </a:spcAft>
                        <a:buNone/>
                      </a:pPr>
                      <a:r>
                        <a:rPr b="1" i="0" lang="en-US" sz="1450" u="none" cap="none" strike="noStrike">
                          <a:solidFill>
                            <a:srgbClr val="2D3136"/>
                          </a:solidFill>
                          <a:latin typeface="Plus Jakarta Sans"/>
                          <a:ea typeface="Plus Jakarta Sans"/>
                          <a:cs typeface="Plus Jakarta Sans"/>
                          <a:sym typeface="Plus Jakarta Sans"/>
                        </a:rPr>
                        <a:t>Mainline Protestants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0.54 (0.28 Rep / 0.80 Dem)</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0.48 (0.32 Rep / 0.65 Dem)</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Directly reflect the institutional chamber mean</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r>
              <a:tr h="614775">
                <a:tc>
                  <a:txBody>
                    <a:bodyPr/>
                    <a:lstStyle/>
                    <a:p>
                      <a:pPr indent="0" lvl="0" marL="0" marR="0" rtl="0" algn="l">
                        <a:spcBef>
                          <a:spcPts val="0"/>
                        </a:spcBef>
                        <a:spcAft>
                          <a:spcPts val="0"/>
                        </a:spcAft>
                        <a:buNone/>
                      </a:pPr>
                      <a:r>
                        <a:rPr b="1" i="0" lang="en-US" sz="1450" u="none" cap="none" strike="noStrike">
                          <a:solidFill>
                            <a:srgbClr val="2D3136"/>
                          </a:solidFill>
                          <a:latin typeface="Plus Jakarta Sans"/>
                          <a:ea typeface="Plus Jakarta Sans"/>
                          <a:cs typeface="Plus Jakarta Sans"/>
                          <a:sym typeface="Plus Jakarta Sans"/>
                        </a:rPr>
                        <a:t>Jewish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0.87 (0.61 Rep / 0.93 Dem)</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0.65 (0.43 Rep / 0.69 Dem)</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Anchor the cultural "Left"; GOP Jewish senators now extinct</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14775">
                <a:tc>
                  <a:txBody>
                    <a:bodyPr/>
                    <a:lstStyle/>
                    <a:p>
                      <a:pPr indent="0" lvl="0" marL="0" marR="0" rtl="0" algn="l">
                        <a:spcBef>
                          <a:spcPts val="0"/>
                        </a:spcBef>
                        <a:spcAft>
                          <a:spcPts val="0"/>
                        </a:spcAft>
                        <a:buNone/>
                      </a:pPr>
                      <a:r>
                        <a:rPr b="1" i="0" lang="en-US" sz="1450" u="none" cap="none" strike="noStrike">
                          <a:solidFill>
                            <a:srgbClr val="2D3136"/>
                          </a:solidFill>
                          <a:latin typeface="Plus Jakarta Sans"/>
                          <a:ea typeface="Plus Jakarta Sans"/>
                          <a:cs typeface="Plus Jakarta Sans"/>
                          <a:sym typeface="Plus Jakarta Sans"/>
                        </a:rPr>
                        <a:t>Women (All Parties)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0.78 (0.39 Rep / 0.97 Dem)</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0.57 (0.35 Rep / 0.67 Dem)</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Significantly more liberal than male co-partisans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r>
            </a:tbl>
          </a:graphicData>
        </a:graphic>
      </p:graphicFrame>
      <p:sp>
        <p:nvSpPr>
          <p:cNvPr id="236" name="Google Shape;236;p23"/>
          <p:cNvSpPr txBox="1"/>
          <p:nvPr/>
        </p:nvSpPr>
        <p:spPr>
          <a:xfrm>
            <a:off x="676275" y="485775"/>
            <a:ext cx="11381422" cy="39811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5E0D1B"/>
                </a:solidFill>
                <a:latin typeface="Lora SemiBold"/>
                <a:ea typeface="Lora SemiBold"/>
                <a:cs typeface="Lora SemiBold"/>
                <a:sym typeface="Lora SemiBold"/>
              </a:rPr>
              <a:t>Ideological Profiles on Cultural Votes (1971–2024)</a:t>
            </a:r>
            <a:endParaRPr/>
          </a:p>
        </p:txBody>
      </p:sp>
      <p:sp>
        <p:nvSpPr>
          <p:cNvPr id="237" name="Google Shape;237;p23"/>
          <p:cNvSpPr/>
          <p:nvPr/>
        </p:nvSpPr>
        <p:spPr>
          <a:xfrm>
            <a:off x="676275" y="969615"/>
            <a:ext cx="10839450" cy="9525"/>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241" name="Shape 241"/>
        <p:cNvGrpSpPr/>
        <p:nvPr/>
      </p:nvGrpSpPr>
      <p:grpSpPr>
        <a:xfrm>
          <a:off x="0" y="0"/>
          <a:ext cx="0" cy="0"/>
          <a:chOff x="0" y="0"/>
          <a:chExt cx="0" cy="0"/>
        </a:xfrm>
      </p:grpSpPr>
      <p:pic>
        <p:nvPicPr>
          <p:cNvPr descr="image.png" id="242" name="Google Shape;242;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3" name="Google Shape;243;p24"/>
          <p:cNvSpPr txBox="1"/>
          <p:nvPr/>
        </p:nvSpPr>
        <p:spPr>
          <a:xfrm>
            <a:off x="676275" y="4995862"/>
            <a:ext cx="10839600" cy="192300"/>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250" u="none" cap="none" strike="noStrike">
                <a:solidFill>
                  <a:srgbClr val="2D3136"/>
                </a:solidFill>
                <a:latin typeface="Plus Jakarta Sans"/>
                <a:ea typeface="Plus Jakarta Sans"/>
                <a:cs typeface="Plus Jakarta Sans"/>
                <a:sym typeface="Plus Jakarta Sans"/>
              </a:rPr>
              <a:t>. Since 2007, Democrats cluster near 1.0 (perfectly liberal) while Republicans remain bounded near 0.0 (perfectly conservative).</a:t>
            </a:r>
            <a:endParaRPr sz="1600"/>
          </a:p>
        </p:txBody>
      </p:sp>
      <p:sp>
        <p:nvSpPr>
          <p:cNvPr id="244" name="Google Shape;244;p24"/>
          <p:cNvSpPr txBox="1"/>
          <p:nvPr/>
        </p:nvSpPr>
        <p:spPr>
          <a:xfrm>
            <a:off x="676275" y="485775"/>
            <a:ext cx="11381422" cy="39811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5E0D1B"/>
                </a:solidFill>
                <a:latin typeface="Lora SemiBold"/>
                <a:ea typeface="Lora SemiBold"/>
                <a:cs typeface="Lora SemiBold"/>
                <a:sym typeface="Lora SemiBold"/>
              </a:rPr>
              <a:t>Partisan Polarization on Cultural Issues</a:t>
            </a:r>
            <a:endParaRPr/>
          </a:p>
        </p:txBody>
      </p:sp>
      <p:sp>
        <p:nvSpPr>
          <p:cNvPr id="245" name="Google Shape;245;p24"/>
          <p:cNvSpPr/>
          <p:nvPr/>
        </p:nvSpPr>
        <p:spPr>
          <a:xfrm>
            <a:off x="676275" y="969615"/>
            <a:ext cx="10839450" cy="9525"/>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46" name="Google Shape;246;p24"/>
          <p:cNvPicPr preferRelativeResize="0"/>
          <p:nvPr/>
        </p:nvPicPr>
        <p:blipFill>
          <a:blip r:embed="rId4">
            <a:alphaModFix/>
          </a:blip>
          <a:stretch>
            <a:fillRect/>
          </a:stretch>
        </p:blipFill>
        <p:spPr>
          <a:xfrm>
            <a:off x="771525" y="883888"/>
            <a:ext cx="8820150" cy="4162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250" name="Shape 250"/>
        <p:cNvGrpSpPr/>
        <p:nvPr/>
      </p:nvGrpSpPr>
      <p:grpSpPr>
        <a:xfrm>
          <a:off x="0" y="0"/>
          <a:ext cx="0" cy="0"/>
          <a:chOff x="0" y="0"/>
          <a:chExt cx="0" cy="0"/>
        </a:xfrm>
      </p:grpSpPr>
      <p:pic>
        <p:nvPicPr>
          <p:cNvPr descr="image.png" id="251" name="Google Shape;251;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2" name="Google Shape;252;p25"/>
          <p:cNvPicPr preferRelativeResize="0"/>
          <p:nvPr/>
        </p:nvPicPr>
        <p:blipFill rotWithShape="1">
          <a:blip r:embed="rId4">
            <a:alphaModFix/>
          </a:blip>
          <a:srcRect b="0" l="0" r="0" t="0"/>
          <a:stretch/>
        </p:blipFill>
        <p:spPr>
          <a:xfrm>
            <a:off x="676275" y="356215"/>
            <a:ext cx="10839451" cy="5154959"/>
          </a:xfrm>
          <a:prstGeom prst="rect">
            <a:avLst/>
          </a:prstGeom>
          <a:noFill/>
          <a:ln>
            <a:noFill/>
          </a:ln>
        </p:spPr>
      </p:pic>
      <p:sp>
        <p:nvSpPr>
          <p:cNvPr id="253" name="Google Shape;253;p25"/>
          <p:cNvSpPr txBox="1"/>
          <p:nvPr/>
        </p:nvSpPr>
        <p:spPr>
          <a:xfrm>
            <a:off x="676275" y="1393477"/>
            <a:ext cx="10839600" cy="161700"/>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050" u="none" cap="none" strike="noStrike">
                <a:solidFill>
                  <a:srgbClr val="BC9548"/>
                </a:solidFill>
                <a:latin typeface="Cinzel SemiBold"/>
                <a:ea typeface="Cinzel SemiBold"/>
                <a:cs typeface="Cinzel SemiBold"/>
                <a:sym typeface="Cinzel SemiBold"/>
              </a:rPr>
              <a:t>MEAN STANDARD DEVIATION OF INDIVIDUAL CAREER CIS SCORES</a:t>
            </a:r>
            <a:endParaRPr/>
          </a:p>
        </p:txBody>
      </p:sp>
      <p:sp>
        <p:nvSpPr>
          <p:cNvPr id="254" name="Google Shape;254;p25"/>
          <p:cNvSpPr txBox="1"/>
          <p:nvPr/>
        </p:nvSpPr>
        <p:spPr>
          <a:xfrm>
            <a:off x="676275" y="5150048"/>
            <a:ext cx="10839600" cy="3195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2075" u="none" cap="none" strike="noStrike">
                <a:solidFill>
                  <a:srgbClr val="6B7075"/>
                </a:solidFill>
                <a:latin typeface="Plus Jakarta Sans"/>
                <a:ea typeface="Plus Jakarta Sans"/>
                <a:cs typeface="Plus Jakarta Sans"/>
                <a:sym typeface="Plus Jakarta Sans"/>
              </a:rPr>
              <a:t>Identity friction drives career volatility; fully aligned identities yield maximum stability.</a:t>
            </a:r>
            <a:endParaRPr sz="2500"/>
          </a:p>
        </p:txBody>
      </p:sp>
      <p:sp>
        <p:nvSpPr>
          <p:cNvPr id="255" name="Google Shape;255;p25"/>
          <p:cNvSpPr txBox="1"/>
          <p:nvPr/>
        </p:nvSpPr>
        <p:spPr>
          <a:xfrm>
            <a:off x="676275" y="485775"/>
            <a:ext cx="11381422" cy="39811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5E0D1B"/>
                </a:solidFill>
                <a:latin typeface="Lora SemiBold"/>
                <a:ea typeface="Lora SemiBold"/>
                <a:cs typeface="Lora SemiBold"/>
                <a:sym typeface="Lora SemiBold"/>
              </a:rPr>
              <a:t>Who Flip-Flops? Volatility Across Faith &amp; Gender</a:t>
            </a:r>
            <a:endParaRPr/>
          </a:p>
        </p:txBody>
      </p:sp>
      <p:sp>
        <p:nvSpPr>
          <p:cNvPr id="256" name="Google Shape;256;p25"/>
          <p:cNvSpPr/>
          <p:nvPr/>
        </p:nvSpPr>
        <p:spPr>
          <a:xfrm>
            <a:off x="676275" y="969615"/>
            <a:ext cx="10839450" cy="9525"/>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260" name="Shape 260"/>
        <p:cNvGrpSpPr/>
        <p:nvPr/>
      </p:nvGrpSpPr>
      <p:grpSpPr>
        <a:xfrm>
          <a:off x="0" y="0"/>
          <a:ext cx="0" cy="0"/>
          <a:chOff x="0" y="0"/>
          <a:chExt cx="0" cy="0"/>
        </a:xfrm>
      </p:grpSpPr>
      <p:pic>
        <p:nvPicPr>
          <p:cNvPr descr="image.png" id="261" name="Google Shape;261;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2" name="Google Shape;262;p26"/>
          <p:cNvPicPr preferRelativeResize="0"/>
          <p:nvPr/>
        </p:nvPicPr>
        <p:blipFill rotWithShape="1">
          <a:blip r:embed="rId4">
            <a:alphaModFix/>
          </a:blip>
          <a:srcRect b="0" l="0" r="0" t="0"/>
          <a:stretch/>
        </p:blipFill>
        <p:spPr>
          <a:xfrm>
            <a:off x="676275" y="1932979"/>
            <a:ext cx="10839450" cy="3325415"/>
          </a:xfrm>
          <a:prstGeom prst="rect">
            <a:avLst/>
          </a:prstGeom>
          <a:noFill/>
          <a:ln>
            <a:noFill/>
          </a:ln>
        </p:spPr>
      </p:pic>
      <p:sp>
        <p:nvSpPr>
          <p:cNvPr id="263" name="Google Shape;263;p26"/>
          <p:cNvSpPr txBox="1"/>
          <p:nvPr/>
        </p:nvSpPr>
        <p:spPr>
          <a:xfrm>
            <a:off x="676275" y="5353645"/>
            <a:ext cx="10839600" cy="1523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6B7075"/>
                </a:solidFill>
                <a:latin typeface="Plus Jakarta Sans"/>
                <a:ea typeface="Plus Jakarta Sans"/>
                <a:cs typeface="Plus Jakarta Sans"/>
                <a:sym typeface="Plus Jakarta Sans"/>
              </a:rPr>
              <a:t>Notes: Mainline Protestant is the omitted reference group. Standard errors are clustered by senator. Significance levels: *** p &lt; 0.01, ** p &lt; 0.05, * p &lt; 0.1.</a:t>
            </a:r>
            <a:endParaRPr b="0" i="0" sz="1500" u="none" cap="none" strike="noStrike">
              <a:solidFill>
                <a:srgbClr val="6B7075"/>
              </a:solidFill>
              <a:latin typeface="Plus Jakarta Sans"/>
              <a:ea typeface="Plus Jakarta Sans"/>
              <a:cs typeface="Plus Jakarta Sans"/>
              <a:sym typeface="Plus Jakarta Sans"/>
            </a:endParaRPr>
          </a:p>
          <a:p>
            <a:pPr indent="0" lvl="0" marL="0" marR="0" rtl="0" algn="l">
              <a:lnSpc>
                <a:spcPct val="140000"/>
              </a:lnSpc>
              <a:spcBef>
                <a:spcPts val="0"/>
              </a:spcBef>
              <a:spcAft>
                <a:spcPts val="0"/>
              </a:spcAft>
              <a:buNone/>
            </a:pPr>
            <a:r>
              <a:t/>
            </a:r>
            <a:endParaRPr sz="1500">
              <a:solidFill>
                <a:srgbClr val="6B7075"/>
              </a:solidFill>
              <a:latin typeface="Plus Jakarta Sans"/>
              <a:ea typeface="Plus Jakarta Sans"/>
              <a:cs typeface="Plus Jakarta Sans"/>
              <a:sym typeface="Plus Jakarta Sans"/>
            </a:endParaRPr>
          </a:p>
          <a:p>
            <a:pPr indent="0" lvl="0" marL="0" marR="0" rtl="0" algn="l">
              <a:lnSpc>
                <a:spcPct val="140000"/>
              </a:lnSpc>
              <a:spcBef>
                <a:spcPts val="0"/>
              </a:spcBef>
              <a:spcAft>
                <a:spcPts val="0"/>
              </a:spcAft>
              <a:buNone/>
            </a:pPr>
            <a:r>
              <a:rPr lang="en-US" sz="1500">
                <a:solidFill>
                  <a:srgbClr val="6B7075"/>
                </a:solidFill>
                <a:latin typeface="Plus Jakarta Sans"/>
                <a:ea typeface="Plus Jakarta Sans"/>
                <a:cs typeface="Plus Jakarta Sans"/>
                <a:sym typeface="Plus Jakarta Sans"/>
              </a:rPr>
              <a:t>Primary </a:t>
            </a:r>
            <a:r>
              <a:rPr lang="en-US" sz="1500">
                <a:solidFill>
                  <a:srgbClr val="6B7075"/>
                </a:solidFill>
                <a:latin typeface="Plus Jakarta Sans"/>
                <a:ea typeface="Plus Jakarta Sans"/>
                <a:cs typeface="Plus Jakarta Sans"/>
                <a:sym typeface="Plus Jakarta Sans"/>
              </a:rPr>
              <a:t>takeawayS </a:t>
            </a:r>
            <a:r>
              <a:rPr lang="en-US" sz="1500">
                <a:solidFill>
                  <a:srgbClr val="6B7075"/>
                </a:solidFill>
                <a:latin typeface="Plus Jakarta Sans"/>
                <a:ea typeface="Plus Jakarta Sans"/>
                <a:cs typeface="Plus Jakarta Sans"/>
                <a:sym typeface="Plus Jakarta Sans"/>
              </a:rPr>
              <a:t>Evangelical Senators have much more conservative and </a:t>
            </a:r>
            <a:r>
              <a:rPr lang="en-US" sz="1500">
                <a:solidFill>
                  <a:srgbClr val="6B7075"/>
                </a:solidFill>
                <a:latin typeface="Plus Jakarta Sans"/>
                <a:ea typeface="Plus Jakarta Sans"/>
                <a:cs typeface="Plus Jakarta Sans"/>
                <a:sym typeface="Plus Jakarta Sans"/>
              </a:rPr>
              <a:t>consistent</a:t>
            </a:r>
            <a:r>
              <a:rPr lang="en-US" sz="1500">
                <a:solidFill>
                  <a:srgbClr val="6B7075"/>
                </a:solidFill>
                <a:latin typeface="Plus Jakarta Sans"/>
                <a:ea typeface="Plus Jakarta Sans"/>
                <a:cs typeface="Plus Jakarta Sans"/>
                <a:sym typeface="Plus Jakarta Sans"/>
              </a:rPr>
              <a:t> CISs even when controlling for party.</a:t>
            </a:r>
            <a:endParaRPr sz="1500">
              <a:solidFill>
                <a:srgbClr val="6B7075"/>
              </a:solidFill>
              <a:latin typeface="Plus Jakarta Sans"/>
              <a:ea typeface="Plus Jakarta Sans"/>
              <a:cs typeface="Plus Jakarta Sans"/>
              <a:sym typeface="Plus Jakarta Sans"/>
            </a:endParaRPr>
          </a:p>
        </p:txBody>
      </p:sp>
      <p:graphicFrame>
        <p:nvGraphicFramePr>
          <p:cNvPr id="264" name="Google Shape;264;p26"/>
          <p:cNvGraphicFramePr/>
          <p:nvPr/>
        </p:nvGraphicFramePr>
        <p:xfrm>
          <a:off x="685800" y="1104304"/>
          <a:ext cx="3000000" cy="3000000"/>
        </p:xfrm>
        <a:graphic>
          <a:graphicData uri="http://schemas.openxmlformats.org/drawingml/2006/table">
            <a:tbl>
              <a:tblPr bandRow="1" firstRow="1">
                <a:noFill/>
                <a:tableStyleId>{C8F07A49-AF4C-4986-92E5-D8D07AEF240A}</a:tableStyleId>
              </a:tblPr>
              <a:tblGrid>
                <a:gridCol w="2612675"/>
                <a:gridCol w="3300850"/>
                <a:gridCol w="2344925"/>
                <a:gridCol w="2561925"/>
              </a:tblGrid>
              <a:tr h="1251500">
                <a:tc>
                  <a:txBody>
                    <a:bodyPr/>
                    <a:lstStyle/>
                    <a:p>
                      <a:pPr indent="0" lvl="0" marL="0" marR="0" rtl="0" algn="l">
                        <a:spcBef>
                          <a:spcPts val="0"/>
                        </a:spcBef>
                        <a:spcAft>
                          <a:spcPts val="0"/>
                        </a:spcAft>
                        <a:buNone/>
                      </a:pPr>
                      <a:r>
                        <a:rPr b="0" i="0" lang="en-US" sz="1450" u="none" cap="none" strike="noStrike">
                          <a:solidFill>
                            <a:srgbClr val="FCFAF7"/>
                          </a:solidFill>
                          <a:latin typeface="Lora Medium"/>
                          <a:ea typeface="Lora Medium"/>
                          <a:cs typeface="Lora Medium"/>
                          <a:sym typeface="Lora Medium"/>
                        </a:rPr>
                        <a:t>Independent Variables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E0D1B"/>
                    </a:solidFill>
                  </a:tcPr>
                </a:tc>
                <a:tc>
                  <a:txBody>
                    <a:bodyPr/>
                    <a:lstStyle/>
                    <a:p>
                      <a:pPr indent="0" lvl="0" marL="0" marR="0" rtl="0" algn="l">
                        <a:spcBef>
                          <a:spcPts val="0"/>
                        </a:spcBef>
                        <a:spcAft>
                          <a:spcPts val="0"/>
                        </a:spcAft>
                        <a:buNone/>
                      </a:pPr>
                      <a:r>
                        <a:rPr b="0" i="0" lang="en-US" sz="1450" u="none" cap="none" strike="noStrike">
                          <a:solidFill>
                            <a:srgbClr val="FCFAF7"/>
                          </a:solidFill>
                          <a:latin typeface="Lora Medium"/>
                          <a:ea typeface="Lora Medium"/>
                          <a:cs typeface="Lora Medium"/>
                          <a:sym typeface="Lora Medium"/>
                        </a:rPr>
                        <a:t>Cultural Issue Score (All Years OLS)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E0D1B"/>
                    </a:solidFill>
                  </a:tcPr>
                </a:tc>
                <a:tc>
                  <a:txBody>
                    <a:bodyPr/>
                    <a:lstStyle/>
                    <a:p>
                      <a:pPr indent="0" lvl="0" marL="0" marR="0" rtl="0" algn="l">
                        <a:spcBef>
                          <a:spcPts val="0"/>
                        </a:spcBef>
                        <a:spcAft>
                          <a:spcPts val="0"/>
                        </a:spcAft>
                        <a:buNone/>
                      </a:pPr>
                      <a:r>
                        <a:rPr b="0" i="0" lang="en-US" sz="1450" u="none" cap="none" strike="noStrike">
                          <a:solidFill>
                            <a:srgbClr val="FCFAF7"/>
                          </a:solidFill>
                          <a:latin typeface="Lora Medium"/>
                          <a:ea typeface="Lora Medium"/>
                          <a:cs typeface="Lora Medium"/>
                          <a:sym typeface="Lora Medium"/>
                        </a:rPr>
                        <a:t>Career mean CIS Score</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E0D1B"/>
                    </a:solidFill>
                  </a:tcPr>
                </a:tc>
                <a:tc>
                  <a:txBody>
                    <a:bodyPr/>
                    <a:lstStyle/>
                    <a:p>
                      <a:pPr indent="0" lvl="0" marL="0" marR="0" rtl="0" algn="l">
                        <a:spcBef>
                          <a:spcPts val="0"/>
                        </a:spcBef>
                        <a:spcAft>
                          <a:spcPts val="0"/>
                        </a:spcAft>
                        <a:buNone/>
                      </a:pPr>
                      <a:r>
                        <a:rPr b="0" i="0" lang="en-US" sz="1450" u="none" cap="none" strike="noStrike">
                          <a:solidFill>
                            <a:srgbClr val="FCFAF7"/>
                          </a:solidFill>
                          <a:latin typeface="Lora Medium"/>
                          <a:ea typeface="Lora Medium"/>
                          <a:cs typeface="Lora Medium"/>
                          <a:sym typeface="Lora Medium"/>
                        </a:rPr>
                        <a:t>Volatility (GLM Career SD)</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E0D1B"/>
                    </a:solidFill>
                  </a:tcPr>
                </a:tc>
              </a:tr>
              <a:tr h="413300">
                <a:tc>
                  <a:txBody>
                    <a:bodyPr/>
                    <a:lstStyle/>
                    <a:p>
                      <a:pPr indent="0" lvl="0" marL="0" marR="0" rtl="0" algn="l">
                        <a:spcBef>
                          <a:spcPts val="0"/>
                        </a:spcBef>
                        <a:spcAft>
                          <a:spcPts val="0"/>
                        </a:spcAft>
                        <a:buNone/>
                      </a:pPr>
                      <a:r>
                        <a:rPr b="1" i="0" lang="en-US" sz="1450" u="none" cap="none" strike="noStrike">
                          <a:solidFill>
                            <a:srgbClr val="2D3136"/>
                          </a:solidFill>
                          <a:latin typeface="Plus Jakarta Sans"/>
                          <a:ea typeface="Plus Jakarta Sans"/>
                          <a:cs typeface="Plus Jakarta Sans"/>
                          <a:sym typeface="Plus Jakarta Sans"/>
                        </a:rPr>
                        <a:t>Evangelical</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-0.140*** (0.039)</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-0.261*** (0.049)</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-0.048** (0.024)</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3300">
                <a:tc>
                  <a:txBody>
                    <a:bodyPr/>
                    <a:lstStyle/>
                    <a:p>
                      <a:pPr indent="0" lvl="0" marL="0" marR="0" rtl="0" algn="l">
                        <a:spcBef>
                          <a:spcPts val="0"/>
                        </a:spcBef>
                        <a:spcAft>
                          <a:spcPts val="0"/>
                        </a:spcAft>
                        <a:buNone/>
                      </a:pPr>
                      <a:r>
                        <a:rPr b="1" i="0" lang="en-US" sz="1450" u="none" cap="none" strike="noStrike">
                          <a:solidFill>
                            <a:srgbClr val="2D3136"/>
                          </a:solidFill>
                          <a:latin typeface="Plus Jakarta Sans"/>
                          <a:ea typeface="Plus Jakarta Sans"/>
                          <a:cs typeface="Plus Jakarta Sans"/>
                          <a:sym typeface="Plus Jakarta Sans"/>
                        </a:rPr>
                        <a:t>Catholic</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-0.101*** (0.033)</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-0.097** (0.049)</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-0.013 (0.021)</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r>
              <a:tr h="413300">
                <a:tc>
                  <a:txBody>
                    <a:bodyPr/>
                    <a:lstStyle/>
                    <a:p>
                      <a:pPr indent="0" lvl="0" marL="0" marR="0" rtl="0" algn="l">
                        <a:spcBef>
                          <a:spcPts val="0"/>
                        </a:spcBef>
                        <a:spcAft>
                          <a:spcPts val="0"/>
                        </a:spcAft>
                        <a:buNone/>
                      </a:pPr>
                      <a:r>
                        <a:rPr b="1" i="0" lang="en-US" sz="1450" u="none" cap="none" strike="noStrike">
                          <a:solidFill>
                            <a:srgbClr val="2D3136"/>
                          </a:solidFill>
                          <a:latin typeface="Plus Jakarta Sans"/>
                          <a:ea typeface="Plus Jakarta Sans"/>
                          <a:cs typeface="Plus Jakarta Sans"/>
                          <a:sym typeface="Plus Jakarta Sans"/>
                        </a:rPr>
                        <a:t>Jewish</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0.072 (0.047)</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0.164** (0.067)</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-0.063* (0.033)</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3300">
                <a:tc>
                  <a:txBody>
                    <a:bodyPr/>
                    <a:lstStyle/>
                    <a:p>
                      <a:pPr indent="0" lvl="0" marL="0" marR="0" rtl="0" algn="l">
                        <a:spcBef>
                          <a:spcPts val="0"/>
                        </a:spcBef>
                        <a:spcAft>
                          <a:spcPts val="0"/>
                        </a:spcAft>
                        <a:buNone/>
                      </a:pPr>
                      <a:r>
                        <a:rPr b="1" i="0" lang="en-US" sz="1450" u="none" cap="none" strike="noStrike">
                          <a:solidFill>
                            <a:srgbClr val="2D3136"/>
                          </a:solidFill>
                          <a:latin typeface="Plus Jakarta Sans"/>
                          <a:ea typeface="Plus Jakarta Sans"/>
                          <a:cs typeface="Plus Jakarta Sans"/>
                          <a:sym typeface="Plus Jakarta Sans"/>
                        </a:rPr>
                        <a:t>Female</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0.146*** (0.036)</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0.129** (0.056)</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-0.006 (0.034)</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r>
              <a:tr h="413300">
                <a:tc>
                  <a:txBody>
                    <a:bodyPr/>
                    <a:lstStyle/>
                    <a:p>
                      <a:pPr indent="0" lvl="0" marL="0" marR="0" rtl="0" algn="l">
                        <a:spcBef>
                          <a:spcPts val="0"/>
                        </a:spcBef>
                        <a:spcAft>
                          <a:spcPts val="0"/>
                        </a:spcAft>
                        <a:buNone/>
                      </a:pPr>
                      <a:r>
                        <a:rPr b="1" lang="en-US" sz="1450">
                          <a:solidFill>
                            <a:srgbClr val="2D3136"/>
                          </a:solidFill>
                          <a:latin typeface="Plus Jakarta Sans"/>
                          <a:ea typeface="Plus Jakarta Sans"/>
                          <a:cs typeface="Plus Jakarta Sans"/>
                          <a:sym typeface="Plus Jakarta Sans"/>
                        </a:rPr>
                        <a:t>LDS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latin typeface="Plus Jakarta Sans"/>
                          <a:ea typeface="Plus Jakarta Sans"/>
                          <a:cs typeface="Plus Jakarta Sans"/>
                          <a:sym typeface="Plus Jakarta Sans"/>
                        </a:rPr>
                        <a:t>(0.039) -0.080 </a:t>
                      </a:r>
                      <a:endParaRPr>
                        <a:latin typeface="Plus Jakarta Sans"/>
                        <a:ea typeface="Plus Jakarta Sans"/>
                        <a:cs typeface="Plus Jakarta Sans"/>
                        <a:sym typeface="Plus Jakarta Sans"/>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450">
                          <a:solidFill>
                            <a:srgbClr val="2D3136"/>
                          </a:solidFill>
                          <a:latin typeface="Plus Jakarta Sans"/>
                          <a:ea typeface="Plus Jakarta Sans"/>
                          <a:cs typeface="Plus Jakarta Sans"/>
                          <a:sym typeface="Plus Jakarta Sans"/>
                        </a:rPr>
                        <a:t>0.129** (0.034)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sz="1450">
                          <a:solidFill>
                            <a:srgbClr val="2D3136"/>
                          </a:solidFill>
                          <a:latin typeface="Plus Jakarta Sans"/>
                          <a:ea typeface="Plus Jakarta Sans"/>
                          <a:cs typeface="Plus Jakarta Sans"/>
                          <a:sym typeface="Plus Jakarta Sans"/>
                        </a:rPr>
                        <a:t>-0.006 (0.056)</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3300">
                <a:tc>
                  <a:txBody>
                    <a:bodyPr/>
                    <a:lstStyle/>
                    <a:p>
                      <a:pPr indent="0" lvl="0" marL="0" marR="0" rtl="0" algn="l">
                        <a:spcBef>
                          <a:spcPts val="0"/>
                        </a:spcBef>
                        <a:spcAft>
                          <a:spcPts val="0"/>
                        </a:spcAft>
                        <a:buNone/>
                      </a:pPr>
                      <a:r>
                        <a:rPr b="1" lang="en-US" sz="1450">
                          <a:solidFill>
                            <a:srgbClr val="2D3136"/>
                          </a:solidFill>
                          <a:latin typeface="Plus Jakarta Sans"/>
                          <a:ea typeface="Plus Jakarta Sans"/>
                          <a:cs typeface="Plus Jakarta Sans"/>
                          <a:sym typeface="Plus Jakarta Sans"/>
                        </a:rPr>
                        <a:t>Other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marR="0" rtl="0" algn="l">
                        <a:spcBef>
                          <a:spcPts val="0"/>
                        </a:spcBef>
                        <a:spcAft>
                          <a:spcPts val="0"/>
                        </a:spcAft>
                        <a:buNone/>
                      </a:pPr>
                      <a:r>
                        <a:rPr lang="en-US" sz="1450">
                          <a:solidFill>
                            <a:srgbClr val="2D3136"/>
                          </a:solidFill>
                          <a:latin typeface="Plus Jakarta Sans"/>
                          <a:ea typeface="Plus Jakarta Sans"/>
                          <a:cs typeface="Plus Jakarta Sans"/>
                          <a:sym typeface="Plus Jakarta Sans"/>
                        </a:rPr>
                        <a:t>0.108* </a:t>
                      </a:r>
                      <a:r>
                        <a:rPr lang="en-US" sz="1450">
                          <a:solidFill>
                            <a:srgbClr val="2D3136"/>
                          </a:solidFill>
                          <a:latin typeface="Plus Jakarta Sans"/>
                          <a:ea typeface="Plus Jakarta Sans"/>
                          <a:cs typeface="Plus Jakarta Sans"/>
                          <a:sym typeface="Plus Jakarta Sans"/>
                        </a:rPr>
                        <a:t>(0.047)</a:t>
                      </a:r>
                      <a:endParaRPr sz="1450">
                        <a:solidFill>
                          <a:srgbClr val="2D3136"/>
                        </a:solidFill>
                        <a:latin typeface="Plus Jakarta Sans"/>
                        <a:ea typeface="Plus Jakarta Sans"/>
                        <a:cs typeface="Plus Jakarta Sans"/>
                        <a:sym typeface="Plus Jakarta Sans"/>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rtl="0" algn="l">
                        <a:spcBef>
                          <a:spcPts val="0"/>
                        </a:spcBef>
                        <a:spcAft>
                          <a:spcPts val="0"/>
                        </a:spcAft>
                        <a:buNone/>
                      </a:pPr>
                      <a:r>
                        <a:rPr lang="en-US"/>
                        <a:t>0.177*** (0.042)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c>
                  <a:txBody>
                    <a:bodyPr/>
                    <a:lstStyle/>
                    <a:p>
                      <a:pPr indent="0" lvl="0" marL="0" rtl="0" algn="l">
                        <a:spcBef>
                          <a:spcPts val="0"/>
                        </a:spcBef>
                        <a:spcAft>
                          <a:spcPts val="0"/>
                        </a:spcAft>
                        <a:buNone/>
                      </a:pPr>
                      <a:r>
                        <a:rPr lang="en-US"/>
                        <a:t> -0.030 (0.055)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EFE6"/>
                    </a:solidFill>
                  </a:tcPr>
                </a:tc>
              </a:tr>
              <a:tr h="413300">
                <a:tc>
                  <a:txBody>
                    <a:bodyPr/>
                    <a:lstStyle/>
                    <a:p>
                      <a:pPr indent="0" lvl="0" marL="0" marR="0" rtl="0" algn="l">
                        <a:spcBef>
                          <a:spcPts val="0"/>
                        </a:spcBef>
                        <a:spcAft>
                          <a:spcPts val="0"/>
                        </a:spcAft>
                        <a:buNone/>
                      </a:pPr>
                      <a:r>
                        <a:rPr b="1" i="0" lang="en-US" sz="1450" u="none" cap="none" strike="noStrike">
                          <a:solidFill>
                            <a:srgbClr val="2D3136"/>
                          </a:solidFill>
                          <a:latin typeface="Plus Jakarta Sans"/>
                          <a:ea typeface="Plus Jakarta Sans"/>
                          <a:cs typeface="Plus Jakarta Sans"/>
                          <a:sym typeface="Plus Jakarta Sans"/>
                        </a:rPr>
                        <a:t>Observations / R-squared</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5,168 / R² = 0.638</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433 / R² = 0.339</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2D3136"/>
                          </a:solidFill>
                          <a:latin typeface="Plus Jakarta Sans"/>
                          <a:ea typeface="Plus Jakarta Sans"/>
                          <a:cs typeface="Plus Jakarta Sans"/>
                          <a:sym typeface="Plus Jakarta Sans"/>
                        </a:rPr>
                        <a:t>418 / Gamma-log link</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65" name="Google Shape;265;p26"/>
          <p:cNvSpPr txBox="1"/>
          <p:nvPr/>
        </p:nvSpPr>
        <p:spPr>
          <a:xfrm>
            <a:off x="676275" y="485775"/>
            <a:ext cx="11381422" cy="39811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5E0D1B"/>
                </a:solidFill>
                <a:latin typeface="Lora SemiBold"/>
                <a:ea typeface="Lora SemiBold"/>
                <a:cs typeface="Lora SemiBold"/>
                <a:sym typeface="Lora SemiBold"/>
              </a:rPr>
              <a:t>Determinants of Cultural Issue Voting (1971–2024)</a:t>
            </a:r>
            <a:endParaRPr/>
          </a:p>
        </p:txBody>
      </p:sp>
      <p:sp>
        <p:nvSpPr>
          <p:cNvPr id="266" name="Google Shape;266;p26"/>
          <p:cNvSpPr/>
          <p:nvPr/>
        </p:nvSpPr>
        <p:spPr>
          <a:xfrm>
            <a:off x="676275" y="969615"/>
            <a:ext cx="10839450" cy="9525"/>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270" name="Shape 270"/>
        <p:cNvGrpSpPr/>
        <p:nvPr/>
      </p:nvGrpSpPr>
      <p:grpSpPr>
        <a:xfrm>
          <a:off x="0" y="0"/>
          <a:ext cx="0" cy="0"/>
          <a:chOff x="0" y="0"/>
          <a:chExt cx="0" cy="0"/>
        </a:xfrm>
      </p:grpSpPr>
      <p:pic>
        <p:nvPicPr>
          <p:cNvPr descr="image.png" id="271" name="Google Shape;27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2" name="Google Shape;272;p27"/>
          <p:cNvPicPr preferRelativeResize="0"/>
          <p:nvPr/>
        </p:nvPicPr>
        <p:blipFill rotWithShape="1">
          <a:blip r:embed="rId4">
            <a:alphaModFix/>
          </a:blip>
          <a:srcRect b="0" l="0" r="0" t="0"/>
          <a:stretch/>
        </p:blipFill>
        <p:spPr>
          <a:xfrm>
            <a:off x="676275" y="1442671"/>
            <a:ext cx="5300650" cy="4074775"/>
          </a:xfrm>
          <a:prstGeom prst="rect">
            <a:avLst/>
          </a:prstGeom>
          <a:noFill/>
          <a:ln>
            <a:noFill/>
          </a:ln>
        </p:spPr>
      </p:pic>
      <p:pic>
        <p:nvPicPr>
          <p:cNvPr descr="image.png" id="273" name="Google Shape;273;p27"/>
          <p:cNvPicPr preferRelativeResize="0"/>
          <p:nvPr/>
        </p:nvPicPr>
        <p:blipFill rotWithShape="1">
          <a:blip r:embed="rId5">
            <a:alphaModFix/>
          </a:blip>
          <a:srcRect b="0" l="0" r="0" t="0"/>
          <a:stretch/>
        </p:blipFill>
        <p:spPr>
          <a:xfrm>
            <a:off x="6116275" y="1442671"/>
            <a:ext cx="5300675" cy="4074775"/>
          </a:xfrm>
          <a:prstGeom prst="rect">
            <a:avLst/>
          </a:prstGeom>
          <a:noFill/>
          <a:ln>
            <a:noFill/>
          </a:ln>
        </p:spPr>
      </p:pic>
      <p:sp>
        <p:nvSpPr>
          <p:cNvPr id="274" name="Google Shape;274;p27"/>
          <p:cNvSpPr txBox="1"/>
          <p:nvPr/>
        </p:nvSpPr>
        <p:spPr>
          <a:xfrm>
            <a:off x="914400" y="1695267"/>
            <a:ext cx="4824300" cy="2847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850" u="none" cap="none" strike="noStrike">
                <a:solidFill>
                  <a:srgbClr val="BC9548"/>
                </a:solidFill>
                <a:latin typeface="Cinzel SemiBold"/>
                <a:ea typeface="Cinzel SemiBold"/>
                <a:cs typeface="Cinzel SemiBold"/>
                <a:sym typeface="Cinzel SemiBold"/>
              </a:rPr>
              <a:t>1970S &amp; 1980S ERA</a:t>
            </a:r>
            <a:endParaRPr sz="2200"/>
          </a:p>
        </p:txBody>
      </p:sp>
      <p:sp>
        <p:nvSpPr>
          <p:cNvPr id="275" name="Google Shape;275;p27"/>
          <p:cNvSpPr txBox="1"/>
          <p:nvPr/>
        </p:nvSpPr>
        <p:spPr>
          <a:xfrm>
            <a:off x="914400" y="2125850"/>
            <a:ext cx="5065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5E0D1B"/>
                </a:solidFill>
                <a:latin typeface="Lora SemiBold"/>
                <a:ea typeface="Lora SemiBold"/>
                <a:cs typeface="Lora SemiBold"/>
                <a:sym typeface="Lora SemiBold"/>
              </a:rPr>
              <a:t>Direct Demographic Impact</a:t>
            </a:r>
            <a:endParaRPr/>
          </a:p>
        </p:txBody>
      </p:sp>
      <p:sp>
        <p:nvSpPr>
          <p:cNvPr id="276" name="Google Shape;276;p27"/>
          <p:cNvSpPr txBox="1"/>
          <p:nvPr/>
        </p:nvSpPr>
        <p:spPr>
          <a:xfrm>
            <a:off x="914400" y="2591516"/>
            <a:ext cx="4824300" cy="856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25" u="none" cap="none" strike="noStrike">
                <a:solidFill>
                  <a:srgbClr val="2D3136"/>
                </a:solidFill>
                <a:latin typeface="Plus Jakarta Sans"/>
                <a:ea typeface="Plus Jakarta Sans"/>
                <a:cs typeface="Plus Jakarta Sans"/>
                <a:sym typeface="Plus Jakarta Sans"/>
              </a:rPr>
              <a:t>Party effect was modest ($B \approx 0.28$). Individual religious identity and gender exerted direct, significant statistical influence on roll calls.</a:t>
            </a:r>
            <a:endParaRPr sz="1600"/>
          </a:p>
        </p:txBody>
      </p:sp>
      <p:sp>
        <p:nvSpPr>
          <p:cNvPr id="277" name="Google Shape;277;p27"/>
          <p:cNvSpPr txBox="1"/>
          <p:nvPr/>
        </p:nvSpPr>
        <p:spPr>
          <a:xfrm>
            <a:off x="914400" y="3795899"/>
            <a:ext cx="4824300" cy="921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425" u="none" cap="none" strike="noStrike">
                <a:solidFill>
                  <a:srgbClr val="2D3136"/>
                </a:solidFill>
                <a:latin typeface="Plus Jakarta Sans"/>
                <a:ea typeface="Plus Jakarta Sans"/>
                <a:cs typeface="Plus Jakarta Sans"/>
                <a:sym typeface="Plus Jakarta Sans"/>
              </a:rPr>
              <a:t>The models explain moderate variance as floor agendas were relatively open and less curated by central party leadership.</a:t>
            </a:r>
            <a:endParaRPr sz="1700"/>
          </a:p>
        </p:txBody>
      </p:sp>
      <p:sp>
        <p:nvSpPr>
          <p:cNvPr id="278" name="Google Shape;278;p27"/>
          <p:cNvSpPr txBox="1"/>
          <p:nvPr/>
        </p:nvSpPr>
        <p:spPr>
          <a:xfrm>
            <a:off x="6453187" y="1695267"/>
            <a:ext cx="4824300" cy="2847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850" u="none" cap="none" strike="noStrike">
                <a:solidFill>
                  <a:srgbClr val="BC9548"/>
                </a:solidFill>
                <a:latin typeface="Cinzel SemiBold"/>
                <a:ea typeface="Cinzel SemiBold"/>
                <a:cs typeface="Cinzel SemiBold"/>
                <a:sym typeface="Cinzel SemiBold"/>
              </a:rPr>
              <a:t>2010S TO 2024 ERA</a:t>
            </a:r>
            <a:endParaRPr sz="2200"/>
          </a:p>
        </p:txBody>
      </p:sp>
      <p:sp>
        <p:nvSpPr>
          <p:cNvPr id="279" name="Google Shape;279;p27"/>
          <p:cNvSpPr txBox="1"/>
          <p:nvPr/>
        </p:nvSpPr>
        <p:spPr>
          <a:xfrm>
            <a:off x="6453187" y="2125850"/>
            <a:ext cx="5065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5E0D1B"/>
                </a:solidFill>
                <a:latin typeface="Lora SemiBold"/>
                <a:ea typeface="Lora SemiBold"/>
                <a:cs typeface="Lora SemiBold"/>
                <a:sym typeface="Lora SemiBold"/>
              </a:rPr>
              <a:t>The Illusion of Party Power</a:t>
            </a:r>
            <a:endParaRPr/>
          </a:p>
        </p:txBody>
      </p:sp>
      <p:sp>
        <p:nvSpPr>
          <p:cNvPr id="280" name="Google Shape;280;p27"/>
          <p:cNvSpPr txBox="1"/>
          <p:nvPr/>
        </p:nvSpPr>
        <p:spPr>
          <a:xfrm>
            <a:off x="6453187" y="2591516"/>
            <a:ext cx="4824300" cy="856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25" u="none" cap="none" strike="noStrike">
                <a:solidFill>
                  <a:srgbClr val="2D3136"/>
                </a:solidFill>
                <a:latin typeface="Plus Jakarta Sans"/>
                <a:ea typeface="Plus Jakarta Sans"/>
                <a:cs typeface="Plus Jakarta Sans"/>
                <a:sym typeface="Plus Jakarta Sans"/>
              </a:rPr>
              <a:t>Party coefficient explodes ($B = 0.782^{***}$), completely absorbing direct religious effects. $R^2$ reaches a staggering 91%.</a:t>
            </a:r>
            <a:endParaRPr sz="1600"/>
          </a:p>
        </p:txBody>
      </p:sp>
      <p:sp>
        <p:nvSpPr>
          <p:cNvPr id="281" name="Google Shape;281;p27"/>
          <p:cNvSpPr txBox="1"/>
          <p:nvPr/>
        </p:nvSpPr>
        <p:spPr>
          <a:xfrm>
            <a:off x="6453187" y="3567299"/>
            <a:ext cx="4824300" cy="1272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425" u="none" cap="none" strike="noStrike">
                <a:solidFill>
                  <a:srgbClr val="2D3136"/>
                </a:solidFill>
                <a:latin typeface="Plus Jakarta Sans"/>
                <a:ea typeface="Plus Jakarta Sans"/>
                <a:cs typeface="Plus Jakarta Sans"/>
                <a:sym typeface="Plus Jakarta Sans"/>
              </a:rPr>
              <a:t>The Realignment Mechanism:</a:t>
            </a:r>
            <a:r>
              <a:rPr b="0" i="0" lang="en-US" sz="1425" u="none" cap="none" strike="noStrike">
                <a:solidFill>
                  <a:srgbClr val="2D3136"/>
                </a:solidFill>
                <a:latin typeface="Plus Jakarta Sans"/>
                <a:ea typeface="Plus Jakarta Sans"/>
                <a:cs typeface="Plus Jakarta Sans"/>
                <a:sym typeface="Plus Jakarta Sans"/>
              </a:rPr>
              <a:t> Party appears dominant only because religious and gender identity first dictated party alignment. Realignment has institutionalized identity straight into party brands.</a:t>
            </a:r>
            <a:endParaRPr sz="1700"/>
          </a:p>
        </p:txBody>
      </p:sp>
      <p:sp>
        <p:nvSpPr>
          <p:cNvPr id="282" name="Google Shape;282;p27"/>
          <p:cNvSpPr txBox="1"/>
          <p:nvPr/>
        </p:nvSpPr>
        <p:spPr>
          <a:xfrm>
            <a:off x="676275" y="485775"/>
            <a:ext cx="11381422" cy="39811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5E0D1B"/>
                </a:solidFill>
                <a:latin typeface="Lora SemiBold"/>
                <a:ea typeface="Lora SemiBold"/>
                <a:cs typeface="Lora SemiBold"/>
                <a:sym typeface="Lora SemiBold"/>
              </a:rPr>
              <a:t>The Decadal Shift &amp; Partisan Cartelization</a:t>
            </a:r>
            <a:endParaRPr/>
          </a:p>
        </p:txBody>
      </p:sp>
      <p:sp>
        <p:nvSpPr>
          <p:cNvPr id="283" name="Google Shape;283;p27"/>
          <p:cNvSpPr/>
          <p:nvPr/>
        </p:nvSpPr>
        <p:spPr>
          <a:xfrm>
            <a:off x="676275" y="969615"/>
            <a:ext cx="10839450" cy="9525"/>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287" name="Shape 287"/>
        <p:cNvGrpSpPr/>
        <p:nvPr/>
      </p:nvGrpSpPr>
      <p:grpSpPr>
        <a:xfrm>
          <a:off x="0" y="0"/>
          <a:ext cx="0" cy="0"/>
          <a:chOff x="0" y="0"/>
          <a:chExt cx="0" cy="0"/>
        </a:xfrm>
      </p:grpSpPr>
      <p:pic>
        <p:nvPicPr>
          <p:cNvPr descr="image.png" id="288" name="Google Shape;288;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9" name="Google Shape;289;p28"/>
          <p:cNvSpPr txBox="1"/>
          <p:nvPr/>
        </p:nvSpPr>
        <p:spPr>
          <a:xfrm>
            <a:off x="676275" y="485775"/>
            <a:ext cx="11381400" cy="392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5E0D1B"/>
                </a:solidFill>
                <a:latin typeface="Lora SemiBold"/>
                <a:ea typeface="Lora SemiBold"/>
                <a:cs typeface="Lora SemiBold"/>
                <a:sym typeface="Lora SemiBold"/>
              </a:rPr>
              <a:t>The Decadal Shift &amp; Partisan Cartelization</a:t>
            </a:r>
            <a:endParaRPr/>
          </a:p>
        </p:txBody>
      </p:sp>
      <p:sp>
        <p:nvSpPr>
          <p:cNvPr id="290" name="Google Shape;290;p28"/>
          <p:cNvSpPr/>
          <p:nvPr/>
        </p:nvSpPr>
        <p:spPr>
          <a:xfrm>
            <a:off x="676275" y="969615"/>
            <a:ext cx="10839600" cy="9600"/>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28"/>
          <p:cNvSpPr txBox="1"/>
          <p:nvPr/>
        </p:nvSpPr>
        <p:spPr>
          <a:xfrm>
            <a:off x="757725" y="1374175"/>
            <a:ext cx="10758300" cy="50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Identity-Driven Voting:</a:t>
            </a:r>
            <a:r>
              <a:rPr lang="en-US" sz="1600">
                <a:solidFill>
                  <a:schemeClr val="dk1"/>
                </a:solidFill>
              </a:rPr>
              <a:t> Beyond basic partisan polarization, the Senate's voting patterns on culture war issues are anchored by deep demographic sorting, where evangelical Protestant and LDS senators anchor cultural conservatism, while Jewish senators, minority faiths, and Democratic women anchor cultural liberalism.</a:t>
            </a:r>
            <a:endParaRPr sz="16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Shifting and Split Groups:</a:t>
            </a:r>
            <a:r>
              <a:rPr lang="en-US" sz="1600">
                <a:solidFill>
                  <a:schemeClr val="dk1"/>
                </a:solidFill>
              </a:rPr>
              <a:t> Mainline Protestants have maintained a steady moderation alongside their declining numbers, while Roman Catholic senators have experienced complete partisan capture, splitting strictly along party lines and abandoning past cross-pressured voting patterns.</a:t>
            </a:r>
            <a:endParaRPr sz="16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Gender Nuances:</a:t>
            </a:r>
            <a:r>
              <a:rPr lang="en-US" sz="1600">
                <a:solidFill>
                  <a:schemeClr val="dk1"/>
                </a:solidFill>
              </a:rPr>
              <a:t> Gender acts as a powerful cross-cutting force; Republican women historically vote nearly twice as liberally on culture war issues as Republican men, though the recent rise of conservative Evangelical women is pushing women's legislative roles toward the same hyper-polarized sorting seen among Catholics.</a:t>
            </a:r>
            <a:endParaRPr sz="16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The Elimination of "Cross-Pressured" Senators:</a:t>
            </a:r>
            <a:r>
              <a:rPr lang="en-US" sz="1600">
                <a:solidFill>
                  <a:schemeClr val="dk1"/>
                </a:solidFill>
              </a:rPr>
              <a:t> Senators with mismatched personal identities and party affiliations (like Evangelical Democrats or Jewish Republicans) experience intense career volatility, a tension that has ultimately resolved through their elimination from the chamber, leaving the modern Senate almost perfectly sorted by identity.</a:t>
            </a:r>
            <a:endParaRPr sz="1600">
              <a:solidFill>
                <a:schemeClr val="dk1"/>
              </a:solidFill>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AF7"/>
        </a:solidFill>
      </p:bgPr>
    </p:bg>
    <p:spTree>
      <p:nvGrpSpPr>
        <p:cNvPr id="299" name="Shape 299"/>
        <p:cNvGrpSpPr/>
        <p:nvPr/>
      </p:nvGrpSpPr>
      <p:grpSpPr>
        <a:xfrm>
          <a:off x="0" y="0"/>
          <a:ext cx="0" cy="0"/>
          <a:chOff x="0" y="0"/>
          <a:chExt cx="0" cy="0"/>
        </a:xfrm>
      </p:grpSpPr>
      <p:pic>
        <p:nvPicPr>
          <p:cNvPr descr="image.png" id="300" name="Google Shape;300;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1" name="Google Shape;301;p30"/>
          <p:cNvSpPr txBox="1"/>
          <p:nvPr/>
        </p:nvSpPr>
        <p:spPr>
          <a:xfrm>
            <a:off x="1619250" y="1380965"/>
            <a:ext cx="9239400" cy="250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25" u="none" cap="none" strike="noStrike">
                <a:solidFill>
                  <a:srgbClr val="2D3136"/>
                </a:solidFill>
                <a:latin typeface="Plus Jakarta Sans"/>
                <a:ea typeface="Plus Jakarta Sans"/>
                <a:cs typeface="Plus Jakarta Sans"/>
                <a:sym typeface="Plus Jakarta Sans"/>
              </a:rPr>
              <a:t>Demographic Sorting Dictates Party:</a:t>
            </a:r>
            <a:endParaRPr sz="1900"/>
          </a:p>
        </p:txBody>
      </p:sp>
      <p:sp>
        <p:nvSpPr>
          <p:cNvPr id="302" name="Google Shape;302;p30"/>
          <p:cNvSpPr txBox="1"/>
          <p:nvPr/>
        </p:nvSpPr>
        <p:spPr>
          <a:xfrm>
            <a:off x="1619250" y="2533842"/>
            <a:ext cx="9239400" cy="219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425" u="none" cap="none" strike="noStrike">
                <a:solidFill>
                  <a:srgbClr val="2D3136"/>
                </a:solidFill>
                <a:latin typeface="Plus Jakarta Sans"/>
                <a:ea typeface="Plus Jakarta Sans"/>
                <a:cs typeface="Plus Jakarta Sans"/>
                <a:sym typeface="Plus Jakarta Sans"/>
              </a:rPr>
              <a:t>Identity Friction Eliminates Moderates:</a:t>
            </a:r>
            <a:endParaRPr sz="1700"/>
          </a:p>
        </p:txBody>
      </p:sp>
      <p:sp>
        <p:nvSpPr>
          <p:cNvPr id="303" name="Google Shape;303;p30"/>
          <p:cNvSpPr txBox="1"/>
          <p:nvPr/>
        </p:nvSpPr>
        <p:spPr>
          <a:xfrm>
            <a:off x="1619250" y="3616164"/>
            <a:ext cx="9239400" cy="234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25" u="none" cap="none" strike="noStrike">
                <a:solidFill>
                  <a:srgbClr val="2D3136"/>
                </a:solidFill>
                <a:latin typeface="Plus Jakarta Sans"/>
                <a:ea typeface="Plus Jakarta Sans"/>
                <a:cs typeface="Plus Jakarta Sans"/>
                <a:sym typeface="Plus Jakarta Sans"/>
              </a:rPr>
              <a:t>Negative Agenda Control Hides Nuance:</a:t>
            </a:r>
            <a:endParaRPr sz="1800"/>
          </a:p>
        </p:txBody>
      </p:sp>
      <p:sp>
        <p:nvSpPr>
          <p:cNvPr id="304" name="Google Shape;304;p30"/>
          <p:cNvSpPr txBox="1"/>
          <p:nvPr/>
        </p:nvSpPr>
        <p:spPr>
          <a:xfrm>
            <a:off x="1619250" y="1609565"/>
            <a:ext cx="9239400" cy="610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25" u="none" cap="none" strike="noStrike">
                <a:solidFill>
                  <a:srgbClr val="2D3136"/>
                </a:solidFill>
                <a:latin typeface="Plus Jakarta Sans"/>
                <a:ea typeface="Plus Jakarta Sans"/>
                <a:cs typeface="Plus Jakarta Sans"/>
                <a:sym typeface="Plus Jakarta Sans"/>
              </a:rPr>
              <a:t>Party labels appear to dominate behavior only because deep religious and demographic alignments first shaped party recruitment and defection pathways.</a:t>
            </a:r>
            <a:endParaRPr sz="1800"/>
          </a:p>
        </p:txBody>
      </p:sp>
      <p:sp>
        <p:nvSpPr>
          <p:cNvPr id="305" name="Google Shape;305;p30"/>
          <p:cNvSpPr txBox="1"/>
          <p:nvPr/>
        </p:nvSpPr>
        <p:spPr>
          <a:xfrm>
            <a:off x="1619250" y="2762442"/>
            <a:ext cx="9239400" cy="57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425" u="none" cap="none" strike="noStrike">
                <a:solidFill>
                  <a:srgbClr val="2D3136"/>
                </a:solidFill>
                <a:latin typeface="Plus Jakarta Sans"/>
                <a:ea typeface="Plus Jakarta Sans"/>
                <a:cs typeface="Plus Jakarta Sans"/>
                <a:sym typeface="Plus Jakarta Sans"/>
              </a:rPr>
              <a:t>Cross-pressured anomalies (such as Evangelical Democrats or Jewish Republicans) faced extreme internal tension, resulting in career volatility and eventual structural extinction.</a:t>
            </a:r>
            <a:endParaRPr sz="1700"/>
          </a:p>
        </p:txBody>
      </p:sp>
      <p:sp>
        <p:nvSpPr>
          <p:cNvPr id="306" name="Google Shape;306;p30"/>
          <p:cNvSpPr txBox="1"/>
          <p:nvPr/>
        </p:nvSpPr>
        <p:spPr>
          <a:xfrm>
            <a:off x="1619250" y="3844764"/>
            <a:ext cx="9239400" cy="9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25" u="none" cap="none" strike="noStrike">
                <a:solidFill>
                  <a:srgbClr val="2D3136"/>
                </a:solidFill>
                <a:latin typeface="Plus Jakarta Sans"/>
                <a:ea typeface="Plus Jakarta Sans"/>
                <a:cs typeface="Plus Jakarta Sans"/>
                <a:sym typeface="Plus Jakarta Sans"/>
              </a:rPr>
              <a:t>Sweeping gatekeeping powers deployed by Senate majority leaders systematically prevent internal splits from being exposed on the floor, artificially inflating the statistical appearance of pure partisan voting.</a:t>
            </a:r>
            <a:endParaRPr sz="1800"/>
          </a:p>
        </p:txBody>
      </p:sp>
      <p:pic>
        <p:nvPicPr>
          <p:cNvPr descr="image.png" id="307" name="Google Shape;307;p30"/>
          <p:cNvPicPr preferRelativeResize="0"/>
          <p:nvPr/>
        </p:nvPicPr>
        <p:blipFill rotWithShape="1">
          <a:blip r:embed="rId4">
            <a:alphaModFix/>
          </a:blip>
          <a:srcRect b="0" l="0" r="0" t="0"/>
          <a:stretch/>
        </p:blipFill>
        <p:spPr>
          <a:xfrm>
            <a:off x="1333500" y="1419065"/>
            <a:ext cx="190500" cy="152400"/>
          </a:xfrm>
          <a:prstGeom prst="rect">
            <a:avLst/>
          </a:prstGeom>
          <a:noFill/>
          <a:ln>
            <a:noFill/>
          </a:ln>
        </p:spPr>
      </p:pic>
      <p:pic>
        <p:nvPicPr>
          <p:cNvPr descr="image.png" id="308" name="Google Shape;308;p30"/>
          <p:cNvPicPr preferRelativeResize="0"/>
          <p:nvPr/>
        </p:nvPicPr>
        <p:blipFill rotWithShape="1">
          <a:blip r:embed="rId5">
            <a:alphaModFix/>
          </a:blip>
          <a:srcRect b="0" l="0" r="0" t="0"/>
          <a:stretch/>
        </p:blipFill>
        <p:spPr>
          <a:xfrm>
            <a:off x="1333500" y="2600165"/>
            <a:ext cx="190500" cy="152400"/>
          </a:xfrm>
          <a:prstGeom prst="rect">
            <a:avLst/>
          </a:prstGeom>
          <a:noFill/>
          <a:ln>
            <a:noFill/>
          </a:ln>
        </p:spPr>
      </p:pic>
      <p:pic>
        <p:nvPicPr>
          <p:cNvPr descr="image.png" id="309" name="Google Shape;309;p30"/>
          <p:cNvPicPr preferRelativeResize="0"/>
          <p:nvPr/>
        </p:nvPicPr>
        <p:blipFill rotWithShape="1">
          <a:blip r:embed="rId6">
            <a:alphaModFix/>
          </a:blip>
          <a:srcRect b="0" l="0" r="0" t="0"/>
          <a:stretch/>
        </p:blipFill>
        <p:spPr>
          <a:xfrm>
            <a:off x="1333500" y="3724820"/>
            <a:ext cx="190500" cy="152400"/>
          </a:xfrm>
          <a:prstGeom prst="rect">
            <a:avLst/>
          </a:prstGeom>
          <a:noFill/>
          <a:ln>
            <a:noFill/>
          </a:ln>
        </p:spPr>
      </p:pic>
      <p:sp>
        <p:nvSpPr>
          <p:cNvPr id="310" name="Google Shape;310;p30"/>
          <p:cNvSpPr txBox="1"/>
          <p:nvPr/>
        </p:nvSpPr>
        <p:spPr>
          <a:xfrm>
            <a:off x="676275" y="485775"/>
            <a:ext cx="11381422" cy="39811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50" u="none" cap="none" strike="noStrike">
                <a:solidFill>
                  <a:srgbClr val="5E0D1B"/>
                </a:solidFill>
                <a:latin typeface="Lora SemiBold"/>
                <a:ea typeface="Lora SemiBold"/>
                <a:cs typeface="Lora SemiBold"/>
                <a:sym typeface="Lora SemiBold"/>
              </a:rPr>
              <a:t>Key Theoretical Conclusions</a:t>
            </a:r>
            <a:endParaRPr/>
          </a:p>
        </p:txBody>
      </p:sp>
      <p:sp>
        <p:nvSpPr>
          <p:cNvPr id="311" name="Google Shape;311;p30"/>
          <p:cNvSpPr/>
          <p:nvPr/>
        </p:nvSpPr>
        <p:spPr>
          <a:xfrm>
            <a:off x="676275" y="969615"/>
            <a:ext cx="10839450" cy="9525"/>
          </a:xfrm>
          <a:prstGeom prst="rect">
            <a:avLst/>
          </a:prstGeom>
          <a:solidFill>
            <a:srgbClr val="E3DC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E0D1B"/>
        </a:solidFill>
      </p:bgPr>
    </p:bg>
    <p:spTree>
      <p:nvGrpSpPr>
        <p:cNvPr id="315" name="Shape 315"/>
        <p:cNvGrpSpPr/>
        <p:nvPr/>
      </p:nvGrpSpPr>
      <p:grpSpPr>
        <a:xfrm>
          <a:off x="0" y="0"/>
          <a:ext cx="0" cy="0"/>
          <a:chOff x="0" y="0"/>
          <a:chExt cx="0" cy="0"/>
        </a:xfrm>
      </p:grpSpPr>
      <p:pic>
        <p:nvPicPr>
          <p:cNvPr descr="image.png" id="316" name="Google Shape;316;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17" name="Google Shape;317;p31"/>
          <p:cNvPicPr preferRelativeResize="0"/>
          <p:nvPr/>
        </p:nvPicPr>
        <p:blipFill rotWithShape="1">
          <a:blip r:embed="rId4">
            <a:alphaModFix/>
          </a:blip>
          <a:srcRect b="0" l="0" r="0" t="0"/>
          <a:stretch/>
        </p:blipFill>
        <p:spPr>
          <a:xfrm>
            <a:off x="9525" y="9525"/>
            <a:ext cx="12172950" cy="6838950"/>
          </a:xfrm>
          <a:prstGeom prst="rect">
            <a:avLst/>
          </a:prstGeom>
          <a:noFill/>
          <a:ln>
            <a:noFill/>
          </a:ln>
        </p:spPr>
      </p:pic>
      <p:pic>
        <p:nvPicPr>
          <p:cNvPr descr="image.png" id="318" name="Google Shape;318;p31"/>
          <p:cNvPicPr preferRelativeResize="0"/>
          <p:nvPr/>
        </p:nvPicPr>
        <p:blipFill rotWithShape="1">
          <a:blip r:embed="rId5">
            <a:alphaModFix/>
          </a:blip>
          <a:srcRect b="0" l="0" r="0" t="0"/>
          <a:stretch/>
        </p:blipFill>
        <p:spPr>
          <a:xfrm>
            <a:off x="3690937" y="3699271"/>
            <a:ext cx="4810125" cy="1341090"/>
          </a:xfrm>
          <a:prstGeom prst="rect">
            <a:avLst/>
          </a:prstGeom>
          <a:noFill/>
          <a:ln>
            <a:noFill/>
          </a:ln>
        </p:spPr>
      </p:pic>
      <p:sp>
        <p:nvSpPr>
          <p:cNvPr id="319" name="Google Shape;319;p31"/>
          <p:cNvSpPr txBox="1"/>
          <p:nvPr/>
        </p:nvSpPr>
        <p:spPr>
          <a:xfrm>
            <a:off x="405288" y="1817489"/>
            <a:ext cx="11381422" cy="676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CFAF7"/>
                </a:solidFill>
                <a:latin typeface="Lora"/>
                <a:ea typeface="Lora"/>
                <a:cs typeface="Lora"/>
                <a:sym typeface="Lora"/>
              </a:rPr>
              <a:t>Questions &amp; Discussion</a:t>
            </a:r>
            <a:endParaRPr/>
          </a:p>
        </p:txBody>
      </p:sp>
      <p:sp>
        <p:nvSpPr>
          <p:cNvPr id="320" name="Google Shape;320;p31"/>
          <p:cNvSpPr txBox="1"/>
          <p:nvPr/>
        </p:nvSpPr>
        <p:spPr>
          <a:xfrm>
            <a:off x="2524125" y="2636639"/>
            <a:ext cx="7143900" cy="510000"/>
          </a:xfrm>
          <a:prstGeom prst="rect">
            <a:avLst/>
          </a:prstGeom>
          <a:noFill/>
          <a:ln>
            <a:noFill/>
          </a:ln>
        </p:spPr>
        <p:txBody>
          <a:bodyPr anchorCtr="0" anchor="t" bIns="0" lIns="0" spcFirstLastPara="1" rIns="0" wrap="square" tIns="0">
            <a:spAutoFit/>
          </a:bodyPr>
          <a:lstStyle/>
          <a:p>
            <a:pPr indent="0" lvl="0" marL="0" marR="0" rtl="0" algn="ctr">
              <a:lnSpc>
                <a:spcPct val="159921"/>
              </a:lnSpc>
              <a:spcBef>
                <a:spcPts val="0"/>
              </a:spcBef>
              <a:spcAft>
                <a:spcPts val="0"/>
              </a:spcAft>
              <a:buNone/>
            </a:pPr>
            <a:r>
              <a:rPr b="0" i="1" lang="en-US" sz="1275" u="none" cap="none" strike="noStrike">
                <a:solidFill>
                  <a:srgbClr val="E3DCD3"/>
                </a:solidFill>
                <a:latin typeface="Plus Jakarta Sans"/>
                <a:ea typeface="Plus Jakarta Sans"/>
                <a:cs typeface="Plus Jakarta Sans"/>
                <a:sym typeface="Plus Jakarta Sans"/>
              </a:rPr>
              <a:t> Forthcoming in "For God and Party: Religion, Representation, and American Political Parties" (Cambridge University Press, 2027).</a:t>
            </a:r>
            <a:endParaRPr/>
          </a:p>
        </p:txBody>
      </p:sp>
      <p:sp>
        <p:nvSpPr>
          <p:cNvPr id="321" name="Google Shape;321;p31"/>
          <p:cNvSpPr txBox="1"/>
          <p:nvPr/>
        </p:nvSpPr>
        <p:spPr>
          <a:xfrm>
            <a:off x="3929062" y="3965971"/>
            <a:ext cx="4333875"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75" u="none" cap="none" strike="noStrike">
                <a:solidFill>
                  <a:srgbClr val="2D3136"/>
                </a:solidFill>
                <a:latin typeface="Plus Jakarta Sans"/>
                <a:ea typeface="Plus Jakarta Sans"/>
                <a:cs typeface="Plus Jakarta Sans"/>
                <a:sym typeface="Plus Jakarta Sans"/>
              </a:rPr>
              <a:t>John McTague, PhD</a:t>
            </a:r>
            <a:r>
              <a:rPr b="0" i="0" lang="en-US" sz="1275" u="none" cap="none" strike="noStrike">
                <a:solidFill>
                  <a:srgbClr val="2D3136"/>
                </a:solidFill>
                <a:latin typeface="Plus Jakarta Sans"/>
                <a:ea typeface="Plus Jakarta Sans"/>
                <a:cs typeface="Plus Jakarta Sans"/>
                <a:sym typeface="Plus Jakarta Sans"/>
              </a:rPr>
              <a:t> — jmctague@towson.edu</a:t>
            </a:r>
            <a:endParaRPr/>
          </a:p>
        </p:txBody>
      </p:sp>
      <p:sp>
        <p:nvSpPr>
          <p:cNvPr id="322" name="Google Shape;322;p31"/>
          <p:cNvSpPr txBox="1"/>
          <p:nvPr/>
        </p:nvSpPr>
        <p:spPr>
          <a:xfrm>
            <a:off x="3929062" y="4251721"/>
            <a:ext cx="4333875"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75" u="none" cap="none" strike="noStrike">
                <a:solidFill>
                  <a:srgbClr val="2D3136"/>
                </a:solidFill>
                <a:latin typeface="Plus Jakarta Sans"/>
                <a:ea typeface="Plus Jakarta Sans"/>
                <a:cs typeface="Plus Jakarta Sans"/>
                <a:sym typeface="Plus Jakarta Sans"/>
              </a:rPr>
              <a:t>Shanna Pearson-Merkowitz, PhD</a:t>
            </a:r>
            <a:r>
              <a:rPr b="0" i="0" lang="en-US" sz="1275" u="none" cap="none" strike="noStrike">
                <a:solidFill>
                  <a:srgbClr val="2D3136"/>
                </a:solidFill>
                <a:latin typeface="Plus Jakarta Sans"/>
                <a:ea typeface="Plus Jakarta Sans"/>
                <a:cs typeface="Plus Jakarta Sans"/>
                <a:sym typeface="Plus Jakarta Sans"/>
              </a:rPr>
              <a:t> — spearson@umd.edu</a:t>
            </a:r>
            <a:endParaRPr/>
          </a:p>
        </p:txBody>
      </p:sp>
      <p:sp>
        <p:nvSpPr>
          <p:cNvPr id="323" name="Google Shape;323;p31"/>
          <p:cNvSpPr txBox="1"/>
          <p:nvPr/>
        </p:nvSpPr>
        <p:spPr>
          <a:xfrm>
            <a:off x="3929062" y="4604146"/>
            <a:ext cx="4333875" cy="1980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975" u="none" cap="none" strike="noStrike">
                <a:solidFill>
                  <a:srgbClr val="6B7075"/>
                </a:solidFill>
                <a:latin typeface="Plus Jakarta Sans SemiBold"/>
                <a:ea typeface="Plus Jakarta Sans SemiBold"/>
                <a:cs typeface="Plus Jakarta Sans SemiBold"/>
                <a:sym typeface="Plus Jakarta Sans SemiBold"/>
              </a:rPr>
              <a:t>Towson University &amp; University of Maryland School of Public Policy</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